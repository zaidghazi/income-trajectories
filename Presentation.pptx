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6"/>
  </p:notesMasterIdLst>
  <p:handoutMasterIdLst>
    <p:handoutMasterId r:id="rId17"/>
  </p:handoutMasterIdLst>
  <p:sldIdLst>
    <p:sldId id="410" r:id="rId5"/>
    <p:sldId id="411" r:id="rId6"/>
    <p:sldId id="383" r:id="rId7"/>
    <p:sldId id="391" r:id="rId8"/>
    <p:sldId id="412" r:id="rId9"/>
    <p:sldId id="397" r:id="rId10"/>
    <p:sldId id="413" r:id="rId11"/>
    <p:sldId id="414" r:id="rId12"/>
    <p:sldId id="408" r:id="rId13"/>
    <p:sldId id="404" r:id="rId14"/>
    <p:sldId id="39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F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67CBA-C83B-47A6-A65B-7368BE43BFCF}" v="1236" dt="2025-05-11T15:06:41.599"/>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987" autoAdjust="0"/>
  </p:normalViewPr>
  <p:slideViewPr>
    <p:cSldViewPr snapToGrid="0">
      <p:cViewPr>
        <p:scale>
          <a:sx n="95" d="100"/>
          <a:sy n="95" d="100"/>
        </p:scale>
        <p:origin x="1182"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hazi, Zaid" userId="78909678-4dd6-4679-a7dc-fbd32412f4eb" providerId="ADAL" clId="{6AB67CBA-C83B-47A6-A65B-7368BE43BFCF}"/>
    <pc:docChg chg="undo redo custSel addSld delSld modSld sldOrd modMainMaster">
      <pc:chgData name="Ghazi, Zaid" userId="78909678-4dd6-4679-a7dc-fbd32412f4eb" providerId="ADAL" clId="{6AB67CBA-C83B-47A6-A65B-7368BE43BFCF}" dt="2025-05-11T15:06:41.599" v="2807" actId="20577"/>
      <pc:docMkLst>
        <pc:docMk/>
      </pc:docMkLst>
      <pc:sldChg chg="addSp delSp modSp mod modAnim">
        <pc:chgData name="Ghazi, Zaid" userId="78909678-4dd6-4679-a7dc-fbd32412f4eb" providerId="ADAL" clId="{6AB67CBA-C83B-47A6-A65B-7368BE43BFCF}" dt="2025-05-03T22:12:49.778" v="520"/>
        <pc:sldMkLst>
          <pc:docMk/>
          <pc:sldMk cId="3346685798" sldId="383"/>
        </pc:sldMkLst>
        <pc:spChg chg="add del mod">
          <ac:chgData name="Ghazi, Zaid" userId="78909678-4dd6-4679-a7dc-fbd32412f4eb" providerId="ADAL" clId="{6AB67CBA-C83B-47A6-A65B-7368BE43BFCF}" dt="2025-05-03T20:01:00.439" v="174" actId="1076"/>
          <ac:spMkLst>
            <pc:docMk/>
            <pc:sldMk cId="3346685798" sldId="383"/>
            <ac:spMk id="3" creationId="{3B8EBC2C-6DD7-5003-38EB-40753046FE8C}"/>
          </ac:spMkLst>
        </pc:spChg>
        <pc:graphicFrameChg chg="mod modGraphic">
          <ac:chgData name="Ghazi, Zaid" userId="78909678-4dd6-4679-a7dc-fbd32412f4eb" providerId="ADAL" clId="{6AB67CBA-C83B-47A6-A65B-7368BE43BFCF}" dt="2025-05-03T19:59:51.534" v="170" actId="404"/>
          <ac:graphicFrameMkLst>
            <pc:docMk/>
            <pc:sldMk cId="3346685798" sldId="383"/>
            <ac:graphicFrameMk id="4" creationId="{91E169A2-A1D9-6C4A-E005-7E89B583D812}"/>
          </ac:graphicFrameMkLst>
        </pc:graphicFrameChg>
      </pc:sldChg>
      <pc:sldChg chg="addSp modSp mod modAnim modNotesTx">
        <pc:chgData name="Ghazi, Zaid" userId="78909678-4dd6-4679-a7dc-fbd32412f4eb" providerId="ADAL" clId="{6AB67CBA-C83B-47A6-A65B-7368BE43BFCF}" dt="2025-05-11T15:06:41.599" v="2807" actId="20577"/>
        <pc:sldMkLst>
          <pc:docMk/>
          <pc:sldMk cId="3200312026" sldId="391"/>
        </pc:sldMkLst>
        <pc:graphicFrameChg chg="mod modGraphic">
          <ac:chgData name="Ghazi, Zaid" userId="78909678-4dd6-4679-a7dc-fbd32412f4eb" providerId="ADAL" clId="{6AB67CBA-C83B-47A6-A65B-7368BE43BFCF}" dt="2025-05-09T02:07:35.661" v="2554" actId="207"/>
          <ac:graphicFrameMkLst>
            <pc:docMk/>
            <pc:sldMk cId="3200312026" sldId="391"/>
            <ac:graphicFrameMk id="4" creationId="{B0F0E963-EA65-86D3-1C29-A6857D14E301}"/>
          </ac:graphicFrameMkLst>
        </pc:graphicFrameChg>
        <pc:graphicFrameChg chg="mod modGraphic">
          <ac:chgData name="Ghazi, Zaid" userId="78909678-4dd6-4679-a7dc-fbd32412f4eb" providerId="ADAL" clId="{6AB67CBA-C83B-47A6-A65B-7368BE43BFCF}" dt="2025-05-11T15:06:41.599" v="2807" actId="20577"/>
          <ac:graphicFrameMkLst>
            <pc:docMk/>
            <pc:sldMk cId="3200312026" sldId="391"/>
            <ac:graphicFrameMk id="5" creationId="{ECE9A568-8F46-384A-809D-0C8F69C3862E}"/>
          </ac:graphicFrameMkLst>
        </pc:graphicFrameChg>
        <pc:graphicFrameChg chg="add mod modGraphic">
          <ac:chgData name="Ghazi, Zaid" userId="78909678-4dd6-4679-a7dc-fbd32412f4eb" providerId="ADAL" clId="{6AB67CBA-C83B-47A6-A65B-7368BE43BFCF}" dt="2025-05-03T22:23:27.418" v="781" actId="14100"/>
          <ac:graphicFrameMkLst>
            <pc:docMk/>
            <pc:sldMk cId="3200312026" sldId="391"/>
            <ac:graphicFrameMk id="8" creationId="{11DB9496-5B5D-C8C9-6EAA-A94D7DD7D634}"/>
          </ac:graphicFrameMkLst>
        </pc:graphicFrameChg>
      </pc:sldChg>
      <pc:sldChg chg="addSp delSp modSp mod delAnim modAnim modNotesTx">
        <pc:chgData name="Ghazi, Zaid" userId="78909678-4dd6-4679-a7dc-fbd32412f4eb" providerId="ADAL" clId="{6AB67CBA-C83B-47A6-A65B-7368BE43BFCF}" dt="2025-05-08T14:50:47.238" v="2553"/>
        <pc:sldMkLst>
          <pc:docMk/>
          <pc:sldMk cId="2039059756" sldId="397"/>
        </pc:sldMkLst>
        <pc:spChg chg="mod">
          <ac:chgData name="Ghazi, Zaid" userId="78909678-4dd6-4679-a7dc-fbd32412f4eb" providerId="ADAL" clId="{6AB67CBA-C83B-47A6-A65B-7368BE43BFCF}" dt="2025-05-08T14:04:23.992" v="2151" actId="20577"/>
          <ac:spMkLst>
            <pc:docMk/>
            <pc:sldMk cId="2039059756" sldId="397"/>
            <ac:spMk id="6" creationId="{BD72D967-F5F1-175D-9DBB-EE6323C932BE}"/>
          </ac:spMkLst>
        </pc:spChg>
        <pc:spChg chg="mod">
          <ac:chgData name="Ghazi, Zaid" userId="78909678-4dd6-4679-a7dc-fbd32412f4eb" providerId="ADAL" clId="{6AB67CBA-C83B-47A6-A65B-7368BE43BFCF}" dt="2025-05-08T14:20:59.682" v="2285" actId="1076"/>
          <ac:spMkLst>
            <pc:docMk/>
            <pc:sldMk cId="2039059756" sldId="397"/>
            <ac:spMk id="9" creationId="{5AB6D40A-2A0A-AF3D-8CF7-3ECD37765637}"/>
          </ac:spMkLst>
        </pc:spChg>
        <pc:spChg chg="add mod topLvl">
          <ac:chgData name="Ghazi, Zaid" userId="78909678-4dd6-4679-a7dc-fbd32412f4eb" providerId="ADAL" clId="{6AB67CBA-C83B-47A6-A65B-7368BE43BFCF}" dt="2025-05-08T14:20:58.850" v="2282" actId="1076"/>
          <ac:spMkLst>
            <pc:docMk/>
            <pc:sldMk cId="2039059756" sldId="397"/>
            <ac:spMk id="18" creationId="{B9F6AE61-A180-7195-6725-57243D0AD050}"/>
          </ac:spMkLst>
        </pc:spChg>
        <pc:graphicFrameChg chg="add mod modGraphic">
          <ac:chgData name="Ghazi, Zaid" userId="78909678-4dd6-4679-a7dc-fbd32412f4eb" providerId="ADAL" clId="{6AB67CBA-C83B-47A6-A65B-7368BE43BFCF}" dt="2025-05-08T14:21:31.340" v="2298" actId="20577"/>
          <ac:graphicFrameMkLst>
            <pc:docMk/>
            <pc:sldMk cId="2039059756" sldId="397"/>
            <ac:graphicFrameMk id="7" creationId="{78B8D11E-4073-D87D-89DF-136E2D909444}"/>
          </ac:graphicFrameMkLst>
        </pc:graphicFrameChg>
        <pc:picChg chg="mod ord">
          <ac:chgData name="Ghazi, Zaid" userId="78909678-4dd6-4679-a7dc-fbd32412f4eb" providerId="ADAL" clId="{6AB67CBA-C83B-47A6-A65B-7368BE43BFCF}" dt="2025-05-08T14:21:00.190" v="2286" actId="1076"/>
          <ac:picMkLst>
            <pc:docMk/>
            <pc:sldMk cId="2039059756" sldId="397"/>
            <ac:picMk id="14" creationId="{2F7D5992-C31A-CA75-D045-7E079C9DFE0F}"/>
          </ac:picMkLst>
        </pc:picChg>
      </pc:sldChg>
      <pc:sldChg chg="addSp delSp modSp mod">
        <pc:chgData name="Ghazi, Zaid" userId="78909678-4dd6-4679-a7dc-fbd32412f4eb" providerId="ADAL" clId="{6AB67CBA-C83B-47A6-A65B-7368BE43BFCF}" dt="2025-05-03T23:32:59.548" v="1696" actId="20577"/>
        <pc:sldMkLst>
          <pc:docMk/>
          <pc:sldMk cId="4261132419" sldId="398"/>
        </pc:sldMkLst>
        <pc:spChg chg="add mod">
          <ac:chgData name="Ghazi, Zaid" userId="78909678-4dd6-4679-a7dc-fbd32412f4eb" providerId="ADAL" clId="{6AB67CBA-C83B-47A6-A65B-7368BE43BFCF}" dt="2025-05-03T23:32:59.548" v="1696" actId="20577"/>
          <ac:spMkLst>
            <pc:docMk/>
            <pc:sldMk cId="4261132419" sldId="398"/>
            <ac:spMk id="4" creationId="{ACF4458E-D4F3-3649-21C7-9CA69D32FF07}"/>
          </ac:spMkLst>
        </pc:spChg>
      </pc:sldChg>
      <pc:sldChg chg="del">
        <pc:chgData name="Ghazi, Zaid" userId="78909678-4dd6-4679-a7dc-fbd32412f4eb" providerId="ADAL" clId="{6AB67CBA-C83B-47A6-A65B-7368BE43BFCF}" dt="2025-05-03T19:58:44.632" v="156" actId="47"/>
        <pc:sldMkLst>
          <pc:docMk/>
          <pc:sldMk cId="752428618" sldId="403"/>
        </pc:sldMkLst>
      </pc:sldChg>
      <pc:sldChg chg="addSp delSp modSp mod modAnim modNotesTx">
        <pc:chgData name="Ghazi, Zaid" userId="78909678-4dd6-4679-a7dc-fbd32412f4eb" providerId="ADAL" clId="{6AB67CBA-C83B-47A6-A65B-7368BE43BFCF}" dt="2025-05-11T14:58:25.911" v="2754" actId="20577"/>
        <pc:sldMkLst>
          <pc:docMk/>
          <pc:sldMk cId="1850768898" sldId="404"/>
        </pc:sldMkLst>
        <pc:spChg chg="mod">
          <ac:chgData name="Ghazi, Zaid" userId="78909678-4dd6-4679-a7dc-fbd32412f4eb" providerId="ADAL" clId="{6AB67CBA-C83B-47A6-A65B-7368BE43BFCF}" dt="2025-05-03T19:57:55.925" v="149"/>
          <ac:spMkLst>
            <pc:docMk/>
            <pc:sldMk cId="1850768898" sldId="404"/>
            <ac:spMk id="2" creationId="{F0759DC4-8B30-98A0-5BAB-C78BA4A4AD55}"/>
          </ac:spMkLst>
        </pc:spChg>
        <pc:graphicFrameChg chg="add mod modGraphic">
          <ac:chgData name="Ghazi, Zaid" userId="78909678-4dd6-4679-a7dc-fbd32412f4eb" providerId="ADAL" clId="{6AB67CBA-C83B-47A6-A65B-7368BE43BFCF}" dt="2025-05-11T14:58:25.911" v="2754" actId="20577"/>
          <ac:graphicFrameMkLst>
            <pc:docMk/>
            <pc:sldMk cId="1850768898" sldId="404"/>
            <ac:graphicFrameMk id="6" creationId="{8C9FDAD0-0A03-7D42-F589-DDEEB121FF3C}"/>
          </ac:graphicFrameMkLst>
        </pc:graphicFrameChg>
        <pc:graphicFrameChg chg="add mod modGraphic">
          <ac:chgData name="Ghazi, Zaid" userId="78909678-4dd6-4679-a7dc-fbd32412f4eb" providerId="ADAL" clId="{6AB67CBA-C83B-47A6-A65B-7368BE43BFCF}" dt="2025-05-11T14:58:19.363" v="2750" actId="20577"/>
          <ac:graphicFrameMkLst>
            <pc:docMk/>
            <pc:sldMk cId="1850768898" sldId="404"/>
            <ac:graphicFrameMk id="7" creationId="{ECE31345-8E78-94E6-01EA-0189EC728DAB}"/>
          </ac:graphicFrameMkLst>
        </pc:graphicFrameChg>
      </pc:sldChg>
      <pc:sldChg chg="del">
        <pc:chgData name="Ghazi, Zaid" userId="78909678-4dd6-4679-a7dc-fbd32412f4eb" providerId="ADAL" clId="{6AB67CBA-C83B-47A6-A65B-7368BE43BFCF}" dt="2025-05-03T19:57:48.122" v="146" actId="47"/>
        <pc:sldMkLst>
          <pc:docMk/>
          <pc:sldMk cId="4127695141" sldId="405"/>
        </pc:sldMkLst>
      </pc:sldChg>
      <pc:sldChg chg="del">
        <pc:chgData name="Ghazi, Zaid" userId="78909678-4dd6-4679-a7dc-fbd32412f4eb" providerId="ADAL" clId="{6AB67CBA-C83B-47A6-A65B-7368BE43BFCF}" dt="2025-05-03T19:57:44.235" v="145" actId="47"/>
        <pc:sldMkLst>
          <pc:docMk/>
          <pc:sldMk cId="3088225330" sldId="407"/>
        </pc:sldMkLst>
      </pc:sldChg>
      <pc:sldChg chg="addSp modSp mod modAnim modNotesTx">
        <pc:chgData name="Ghazi, Zaid" userId="78909678-4dd6-4679-a7dc-fbd32412f4eb" providerId="ADAL" clId="{6AB67CBA-C83B-47A6-A65B-7368BE43BFCF}" dt="2025-05-04T01:42:49.858" v="1720" actId="1035"/>
        <pc:sldMkLst>
          <pc:docMk/>
          <pc:sldMk cId="888484295" sldId="408"/>
        </pc:sldMkLst>
        <pc:spChg chg="mod">
          <ac:chgData name="Ghazi, Zaid" userId="78909678-4dd6-4679-a7dc-fbd32412f4eb" providerId="ADAL" clId="{6AB67CBA-C83B-47A6-A65B-7368BE43BFCF}" dt="2025-05-04T01:42:49.858" v="1720" actId="1035"/>
          <ac:spMkLst>
            <pc:docMk/>
            <pc:sldMk cId="888484295" sldId="408"/>
            <ac:spMk id="2" creationId="{805346ED-721D-85EE-2F1B-A31D0912DE29}"/>
          </ac:spMkLst>
        </pc:spChg>
        <pc:spChg chg="add mod">
          <ac:chgData name="Ghazi, Zaid" userId="78909678-4dd6-4679-a7dc-fbd32412f4eb" providerId="ADAL" clId="{6AB67CBA-C83B-47A6-A65B-7368BE43BFCF}" dt="2025-05-03T19:56:13.546" v="139" actId="404"/>
          <ac:spMkLst>
            <pc:docMk/>
            <pc:sldMk cId="888484295" sldId="408"/>
            <ac:spMk id="11" creationId="{2DCD9451-9ACD-0829-EFA1-2F21E1B85E1E}"/>
          </ac:spMkLst>
        </pc:spChg>
        <pc:spChg chg="add mod">
          <ac:chgData name="Ghazi, Zaid" userId="78909678-4dd6-4679-a7dc-fbd32412f4eb" providerId="ADAL" clId="{6AB67CBA-C83B-47A6-A65B-7368BE43BFCF}" dt="2025-05-03T22:54:42.556" v="1147" actId="1076"/>
          <ac:spMkLst>
            <pc:docMk/>
            <pc:sldMk cId="888484295" sldId="408"/>
            <ac:spMk id="15" creationId="{A4569477-53B6-798F-3E8C-3CFF05A84C89}"/>
          </ac:spMkLst>
        </pc:spChg>
        <pc:spChg chg="add mod">
          <ac:chgData name="Ghazi, Zaid" userId="78909678-4dd6-4679-a7dc-fbd32412f4eb" providerId="ADAL" clId="{6AB67CBA-C83B-47A6-A65B-7368BE43BFCF}" dt="2025-05-03T23:14:34.035" v="1508" actId="1076"/>
          <ac:spMkLst>
            <pc:docMk/>
            <pc:sldMk cId="888484295" sldId="408"/>
            <ac:spMk id="16" creationId="{21E5C55B-1E32-331C-BA69-EBF87FEA6A4D}"/>
          </ac:spMkLst>
        </pc:spChg>
        <pc:spChg chg="add mod">
          <ac:chgData name="Ghazi, Zaid" userId="78909678-4dd6-4679-a7dc-fbd32412f4eb" providerId="ADAL" clId="{6AB67CBA-C83B-47A6-A65B-7368BE43BFCF}" dt="2025-05-03T23:14:57.827" v="1514" actId="1076"/>
          <ac:spMkLst>
            <pc:docMk/>
            <pc:sldMk cId="888484295" sldId="408"/>
            <ac:spMk id="17" creationId="{B2EB4E86-6DB6-AC3D-0FFB-B13004E3E4FE}"/>
          </ac:spMkLst>
        </pc:spChg>
        <pc:graphicFrameChg chg="mod modGraphic">
          <ac:chgData name="Ghazi, Zaid" userId="78909678-4dd6-4679-a7dc-fbd32412f4eb" providerId="ADAL" clId="{6AB67CBA-C83B-47A6-A65B-7368BE43BFCF}" dt="2025-05-03T22:54:33.229" v="1146" actId="14734"/>
          <ac:graphicFrameMkLst>
            <pc:docMk/>
            <pc:sldMk cId="888484295" sldId="408"/>
            <ac:graphicFrameMk id="8" creationId="{E1897AB3-DEEE-CB94-3A5F-724BC9AA0B09}"/>
          </ac:graphicFrameMkLst>
        </pc:graphicFrameChg>
        <pc:picChg chg="mod">
          <ac:chgData name="Ghazi, Zaid" userId="78909678-4dd6-4679-a7dc-fbd32412f4eb" providerId="ADAL" clId="{6AB67CBA-C83B-47A6-A65B-7368BE43BFCF}" dt="2025-05-03T23:14:38.332" v="1509" actId="1076"/>
          <ac:picMkLst>
            <pc:docMk/>
            <pc:sldMk cId="888484295" sldId="408"/>
            <ac:picMk id="7" creationId="{682F30C4-5212-A675-A8FA-F85A7ABF3519}"/>
          </ac:picMkLst>
        </pc:picChg>
        <pc:cxnChg chg="add mod">
          <ac:chgData name="Ghazi, Zaid" userId="78909678-4dd6-4679-a7dc-fbd32412f4eb" providerId="ADAL" clId="{6AB67CBA-C83B-47A6-A65B-7368BE43BFCF}" dt="2025-05-03T19:54:16.929" v="59" actId="17032"/>
          <ac:cxnSpMkLst>
            <pc:docMk/>
            <pc:sldMk cId="888484295" sldId="408"/>
            <ac:cxnSpMk id="10" creationId="{F5BE6BB9-F3CD-7845-C06E-E450FD1C3AE4}"/>
          </ac:cxnSpMkLst>
        </pc:cxnChg>
        <pc:cxnChg chg="add mod">
          <ac:chgData name="Ghazi, Zaid" userId="78909678-4dd6-4679-a7dc-fbd32412f4eb" providerId="ADAL" clId="{6AB67CBA-C83B-47A6-A65B-7368BE43BFCF}" dt="2025-05-03T22:54:44.948" v="1148" actId="1076"/>
          <ac:cxnSpMkLst>
            <pc:docMk/>
            <pc:sldMk cId="888484295" sldId="408"/>
            <ac:cxnSpMk id="14" creationId="{3D894A99-E829-8C1F-E00E-D66CCDC264BD}"/>
          </ac:cxnSpMkLst>
        </pc:cxnChg>
      </pc:sldChg>
      <pc:sldChg chg="modSp mod modNotesTx">
        <pc:chgData name="Ghazi, Zaid" userId="78909678-4dd6-4679-a7dc-fbd32412f4eb" providerId="ADAL" clId="{6AB67CBA-C83B-47A6-A65B-7368BE43BFCF}" dt="2025-05-04T15:22:29.685" v="1726" actId="20577"/>
        <pc:sldMkLst>
          <pc:docMk/>
          <pc:sldMk cId="3390304222" sldId="410"/>
        </pc:sldMkLst>
        <pc:spChg chg="mod">
          <ac:chgData name="Ghazi, Zaid" userId="78909678-4dd6-4679-a7dc-fbd32412f4eb" providerId="ADAL" clId="{6AB67CBA-C83B-47A6-A65B-7368BE43BFCF}" dt="2025-05-03T23:33:08.218" v="1697" actId="20577"/>
          <ac:spMkLst>
            <pc:docMk/>
            <pc:sldMk cId="3390304222" sldId="410"/>
            <ac:spMk id="3" creationId="{EC58887A-1E35-8528-7F06-BDA2C98308AA}"/>
          </ac:spMkLst>
        </pc:spChg>
      </pc:sldChg>
      <pc:sldChg chg="modSp mod ord modAnim">
        <pc:chgData name="Ghazi, Zaid" userId="78909678-4dd6-4679-a7dc-fbd32412f4eb" providerId="ADAL" clId="{6AB67CBA-C83B-47A6-A65B-7368BE43BFCF}" dt="2025-05-08T00:42:04.509" v="2125" actId="207"/>
        <pc:sldMkLst>
          <pc:docMk/>
          <pc:sldMk cId="2537032586" sldId="411"/>
        </pc:sldMkLst>
        <pc:graphicFrameChg chg="mod modGraphic">
          <ac:chgData name="Ghazi, Zaid" userId="78909678-4dd6-4679-a7dc-fbd32412f4eb" providerId="ADAL" clId="{6AB67CBA-C83B-47A6-A65B-7368BE43BFCF}" dt="2025-05-08T00:42:04.509" v="2125" actId="207"/>
          <ac:graphicFrameMkLst>
            <pc:docMk/>
            <pc:sldMk cId="2537032586" sldId="411"/>
            <ac:graphicFrameMk id="2" creationId="{AFF2E08E-1627-2981-7378-9661AAEDA86F}"/>
          </ac:graphicFrameMkLst>
        </pc:graphicFrameChg>
        <pc:graphicFrameChg chg="modGraphic">
          <ac:chgData name="Ghazi, Zaid" userId="78909678-4dd6-4679-a7dc-fbd32412f4eb" providerId="ADAL" clId="{6AB67CBA-C83B-47A6-A65B-7368BE43BFCF}" dt="2025-05-03T23:24:15.489" v="1569" actId="20577"/>
          <ac:graphicFrameMkLst>
            <pc:docMk/>
            <pc:sldMk cId="2537032586" sldId="411"/>
            <ac:graphicFrameMk id="4" creationId="{1E5C2FE3-794A-A879-F13B-843C593C53C8}"/>
          </ac:graphicFrameMkLst>
        </pc:graphicFrameChg>
      </pc:sldChg>
      <pc:sldChg chg="addSp delSp modSp mod ord delAnim modAnim modNotesTx">
        <pc:chgData name="Ghazi, Zaid" userId="78909678-4dd6-4679-a7dc-fbd32412f4eb" providerId="ADAL" clId="{6AB67CBA-C83B-47A6-A65B-7368BE43BFCF}" dt="2025-05-08T14:50:34.248" v="2552"/>
        <pc:sldMkLst>
          <pc:docMk/>
          <pc:sldMk cId="4040427042" sldId="412"/>
        </pc:sldMkLst>
        <pc:spChg chg="add mod">
          <ac:chgData name="Ghazi, Zaid" userId="78909678-4dd6-4679-a7dc-fbd32412f4eb" providerId="ADAL" clId="{6AB67CBA-C83B-47A6-A65B-7368BE43BFCF}" dt="2025-05-08T14:17:36.280" v="2228" actId="1076"/>
          <ac:spMkLst>
            <pc:docMk/>
            <pc:sldMk cId="4040427042" sldId="412"/>
            <ac:spMk id="5" creationId="{99C1E519-8236-5BE2-8998-F4ADD7E6CFB0}"/>
          </ac:spMkLst>
        </pc:spChg>
        <pc:spChg chg="mod">
          <ac:chgData name="Ghazi, Zaid" userId="78909678-4dd6-4679-a7dc-fbd32412f4eb" providerId="ADAL" clId="{6AB67CBA-C83B-47A6-A65B-7368BE43BFCF}" dt="2025-05-08T14:10:12.116" v="2195" actId="20577"/>
          <ac:spMkLst>
            <pc:docMk/>
            <pc:sldMk cId="4040427042" sldId="412"/>
            <ac:spMk id="6" creationId="{7176A7F6-DCA4-A4D8-2CC7-BB149A6D07D9}"/>
          </ac:spMkLst>
        </pc:spChg>
        <pc:spChg chg="mod">
          <ac:chgData name="Ghazi, Zaid" userId="78909678-4dd6-4679-a7dc-fbd32412f4eb" providerId="ADAL" clId="{6AB67CBA-C83B-47A6-A65B-7368BE43BFCF}" dt="2025-05-08T14:10:40.261" v="2201" actId="20577"/>
          <ac:spMkLst>
            <pc:docMk/>
            <pc:sldMk cId="4040427042" sldId="412"/>
            <ac:spMk id="9" creationId="{1EB3EA9A-E016-DAE3-17E2-A1AD904FBA52}"/>
          </ac:spMkLst>
        </pc:spChg>
        <pc:graphicFrameChg chg="add mod modGraphic">
          <ac:chgData name="Ghazi, Zaid" userId="78909678-4dd6-4679-a7dc-fbd32412f4eb" providerId="ADAL" clId="{6AB67CBA-C83B-47A6-A65B-7368BE43BFCF}" dt="2025-05-08T14:28:26.759" v="2537" actId="1076"/>
          <ac:graphicFrameMkLst>
            <pc:docMk/>
            <pc:sldMk cId="4040427042" sldId="412"/>
            <ac:graphicFrameMk id="21" creationId="{4B5D4F6E-1988-A6C4-E74B-F0EE38677D76}"/>
          </ac:graphicFrameMkLst>
        </pc:graphicFrameChg>
        <pc:picChg chg="mod">
          <ac:chgData name="Ghazi, Zaid" userId="78909678-4dd6-4679-a7dc-fbd32412f4eb" providerId="ADAL" clId="{6AB67CBA-C83B-47A6-A65B-7368BE43BFCF}" dt="2025-05-08T14:17:46.317" v="2230" actId="14100"/>
          <ac:picMkLst>
            <pc:docMk/>
            <pc:sldMk cId="4040427042" sldId="412"/>
            <ac:picMk id="11" creationId="{AC1BC7A6-30BF-F7AF-AD4D-C0E825E27A25}"/>
          </ac:picMkLst>
        </pc:picChg>
      </pc:sldChg>
      <pc:sldChg chg="modSp mod modAnim modNotesTx">
        <pc:chgData name="Ghazi, Zaid" userId="78909678-4dd6-4679-a7dc-fbd32412f4eb" providerId="ADAL" clId="{6AB67CBA-C83B-47A6-A65B-7368BE43BFCF}" dt="2025-05-04T15:26:29.790" v="2108" actId="20577"/>
        <pc:sldMkLst>
          <pc:docMk/>
          <pc:sldMk cId="774278274" sldId="413"/>
        </pc:sldMkLst>
        <pc:spChg chg="mod">
          <ac:chgData name="Ghazi, Zaid" userId="78909678-4dd6-4679-a7dc-fbd32412f4eb" providerId="ADAL" clId="{6AB67CBA-C83B-47A6-A65B-7368BE43BFCF}" dt="2025-05-03T21:59:15.355" v="498" actId="113"/>
          <ac:spMkLst>
            <pc:docMk/>
            <pc:sldMk cId="774278274" sldId="413"/>
            <ac:spMk id="2" creationId="{EA9D63B4-907F-963A-262F-2FB6A25BC23B}"/>
          </ac:spMkLst>
        </pc:spChg>
        <pc:graphicFrameChg chg="mod modGraphic">
          <ac:chgData name="Ghazi, Zaid" userId="78909678-4dd6-4679-a7dc-fbd32412f4eb" providerId="ADAL" clId="{6AB67CBA-C83B-47A6-A65B-7368BE43BFCF}" dt="2025-05-03T22:07:10.893" v="513" actId="207"/>
          <ac:graphicFrameMkLst>
            <pc:docMk/>
            <pc:sldMk cId="774278274" sldId="413"/>
            <ac:graphicFrameMk id="4" creationId="{042EC017-7FF6-1928-E041-2A17E29398E0}"/>
          </ac:graphicFrameMkLst>
        </pc:graphicFrameChg>
      </pc:sldChg>
      <pc:sldChg chg="modSp mod modNotesTx">
        <pc:chgData name="Ghazi, Zaid" userId="78909678-4dd6-4679-a7dc-fbd32412f4eb" providerId="ADAL" clId="{6AB67CBA-C83B-47A6-A65B-7368BE43BFCF}" dt="2025-05-04T15:26:50.271" v="2117" actId="20577"/>
        <pc:sldMkLst>
          <pc:docMk/>
          <pc:sldMk cId="235140622" sldId="414"/>
        </pc:sldMkLst>
        <pc:graphicFrameChg chg="mod modGraphic">
          <ac:chgData name="Ghazi, Zaid" userId="78909678-4dd6-4679-a7dc-fbd32412f4eb" providerId="ADAL" clId="{6AB67CBA-C83B-47A6-A65B-7368BE43BFCF}" dt="2025-05-03T23:12:29.069" v="1421" actId="1076"/>
          <ac:graphicFrameMkLst>
            <pc:docMk/>
            <pc:sldMk cId="235140622" sldId="414"/>
            <ac:graphicFrameMk id="4" creationId="{37F95EEE-5599-1943-6D73-8FE48F47C6E4}"/>
          </ac:graphicFrameMkLst>
        </pc:graphicFrameChg>
      </pc:sldChg>
      <pc:sldChg chg="addSp delSp modSp new del mod">
        <pc:chgData name="Ghazi, Zaid" userId="78909678-4dd6-4679-a7dc-fbd32412f4eb" providerId="ADAL" clId="{6AB67CBA-C83B-47A6-A65B-7368BE43BFCF}" dt="2025-05-03T22:45:12.032" v="1062" actId="2696"/>
        <pc:sldMkLst>
          <pc:docMk/>
          <pc:sldMk cId="3912131026" sldId="415"/>
        </pc:sldMkLst>
      </pc:sldChg>
      <pc:sldMasterChg chg="modSp mod modSldLayout">
        <pc:chgData name="Ghazi, Zaid" userId="78909678-4dd6-4679-a7dc-fbd32412f4eb" providerId="ADAL" clId="{6AB67CBA-C83B-47A6-A65B-7368BE43BFCF}" dt="2025-05-03T22:03:58.861" v="511" actId="207"/>
        <pc:sldMasterMkLst>
          <pc:docMk/>
          <pc:sldMasterMk cId="3515892240" sldId="2147483658"/>
        </pc:sldMasterMkLst>
        <pc:spChg chg="mod">
          <ac:chgData name="Ghazi, Zaid" userId="78909678-4dd6-4679-a7dc-fbd32412f4eb" providerId="ADAL" clId="{6AB67CBA-C83B-47A6-A65B-7368BE43BFCF}" dt="2025-05-03T22:03:00.355" v="510" actId="14100"/>
          <ac:spMkLst>
            <pc:docMk/>
            <pc:sldMasterMk cId="3515892240" sldId="2147483658"/>
            <ac:spMk id="32" creationId="{C8ADA0DF-3751-9A48-8A21-59F01C782D7C}"/>
          </ac:spMkLst>
        </pc:spChg>
        <pc:sldLayoutChg chg="modSp">
          <pc:chgData name="Ghazi, Zaid" userId="78909678-4dd6-4679-a7dc-fbd32412f4eb" providerId="ADAL" clId="{6AB67CBA-C83B-47A6-A65B-7368BE43BFCF}" dt="2025-05-03T22:03:58.861" v="511" actId="207"/>
          <pc:sldLayoutMkLst>
            <pc:docMk/>
            <pc:sldMasterMk cId="3515892240" sldId="2147483658"/>
            <pc:sldLayoutMk cId="518089260" sldId="2147483698"/>
          </pc:sldLayoutMkLst>
          <pc:spChg chg="mod">
            <ac:chgData name="Ghazi, Zaid" userId="78909678-4dd6-4679-a7dc-fbd32412f4eb" providerId="ADAL" clId="{6AB67CBA-C83B-47A6-A65B-7368BE43BFCF}" dt="2025-05-03T22:03:58.861" v="511" actId="207"/>
            <ac:spMkLst>
              <pc:docMk/>
              <pc:sldMasterMk cId="3515892240" sldId="2147483658"/>
              <pc:sldLayoutMk cId="518089260" sldId="2147483698"/>
              <ac:spMk id="43" creationId="{D80CCC8F-9CF1-9621-04EB-DFA68FEE42D2}"/>
            </ac:spMkLst>
          </pc:spChg>
        </pc:sldLayoutChg>
        <pc:sldLayoutChg chg="modSp mod">
          <pc:chgData name="Ghazi, Zaid" userId="78909678-4dd6-4679-a7dc-fbd32412f4eb" providerId="ADAL" clId="{6AB67CBA-C83B-47A6-A65B-7368BE43BFCF}" dt="2025-05-03T22:02:33.673" v="508" actId="404"/>
          <pc:sldLayoutMkLst>
            <pc:docMk/>
            <pc:sldMasterMk cId="3515892240" sldId="2147483658"/>
            <pc:sldLayoutMk cId="310410957" sldId="2147483704"/>
          </pc:sldLayoutMkLst>
          <pc:spChg chg="mod">
            <ac:chgData name="Ghazi, Zaid" userId="78909678-4dd6-4679-a7dc-fbd32412f4eb" providerId="ADAL" clId="{6AB67CBA-C83B-47A6-A65B-7368BE43BFCF}" dt="2025-05-03T22:02:33.673" v="508" actId="404"/>
            <ac:spMkLst>
              <pc:docMk/>
              <pc:sldMasterMk cId="3515892240" sldId="2147483658"/>
              <pc:sldLayoutMk cId="310410957" sldId="2147483704"/>
              <ac:spMk id="10" creationId="{05D79B4B-A9BD-581F-536E-DE7CF728F84E}"/>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AFF85D-2F60-4884-8A0B-7A32629D96FB}" type="doc">
      <dgm:prSet loTypeId="urn:microsoft.com/office/officeart/2005/8/layout/process1" loCatId="process" qsTypeId="urn:microsoft.com/office/officeart/2005/8/quickstyle/simple1" qsCatId="simple" csTypeId="urn:microsoft.com/office/officeart/2005/8/colors/accent1_2" csCatId="accent1" phldr="1"/>
      <dgm:spPr/>
    </dgm:pt>
    <dgm:pt modelId="{0A6D053F-EB93-4E97-8C59-03F57CB63347}">
      <dgm:prSet phldrT="[Text]" custT="1"/>
      <dgm:spPr/>
      <dgm:t>
        <a:bodyPr/>
        <a:lstStyle/>
        <a:p>
          <a:r>
            <a:rPr lang="en-US" sz="2000" dirty="0"/>
            <a:t>Self-Employment</a:t>
          </a:r>
        </a:p>
      </dgm:t>
    </dgm:pt>
    <dgm:pt modelId="{7AE3E8C1-6F67-4BFC-83E2-B8ECE333D995}" type="parTrans" cxnId="{A130A916-AFBB-43DE-89E3-A9B34C10D2C0}">
      <dgm:prSet/>
      <dgm:spPr/>
      <dgm:t>
        <a:bodyPr/>
        <a:lstStyle/>
        <a:p>
          <a:endParaRPr lang="en-US"/>
        </a:p>
      </dgm:t>
    </dgm:pt>
    <dgm:pt modelId="{27DE2495-B6E0-4B0A-B5BB-96FD70FC602A}" type="sibTrans" cxnId="{A130A916-AFBB-43DE-89E3-A9B34C10D2C0}">
      <dgm:prSet/>
      <dgm:spPr/>
      <dgm:t>
        <a:bodyPr/>
        <a:lstStyle/>
        <a:p>
          <a:endParaRPr lang="en-US"/>
        </a:p>
      </dgm:t>
    </dgm:pt>
    <dgm:pt modelId="{2202542E-448A-4104-BCCD-A7838D00D7C2}">
      <dgm:prSet phldrT="[Text]" custT="1"/>
      <dgm:spPr/>
      <dgm:t>
        <a:bodyPr/>
        <a:lstStyle/>
        <a:p>
          <a:r>
            <a:rPr lang="en-US" sz="2000" dirty="0"/>
            <a:t>Income Benefit</a:t>
          </a:r>
        </a:p>
      </dgm:t>
    </dgm:pt>
    <dgm:pt modelId="{3F861C11-FB9D-43EF-A46C-CEA89C1DCCE5}" type="parTrans" cxnId="{D3FED897-6217-4599-8BC7-7C9E6EB1FDD1}">
      <dgm:prSet/>
      <dgm:spPr/>
      <dgm:t>
        <a:bodyPr/>
        <a:lstStyle/>
        <a:p>
          <a:endParaRPr lang="en-US"/>
        </a:p>
      </dgm:t>
    </dgm:pt>
    <dgm:pt modelId="{A2ECF5ED-47F4-41C5-AECA-DCA63B291D69}" type="sibTrans" cxnId="{D3FED897-6217-4599-8BC7-7C9E6EB1FDD1}">
      <dgm:prSet/>
      <dgm:spPr/>
      <dgm:t>
        <a:bodyPr/>
        <a:lstStyle/>
        <a:p>
          <a:endParaRPr lang="en-US"/>
        </a:p>
      </dgm:t>
    </dgm:pt>
    <dgm:pt modelId="{B41D5C46-A9C5-4623-84BF-C83FD9CEB575}" type="pres">
      <dgm:prSet presAssocID="{50AFF85D-2F60-4884-8A0B-7A32629D96FB}" presName="Name0" presStyleCnt="0">
        <dgm:presLayoutVars>
          <dgm:dir/>
          <dgm:resizeHandles val="exact"/>
        </dgm:presLayoutVars>
      </dgm:prSet>
      <dgm:spPr/>
    </dgm:pt>
    <dgm:pt modelId="{EB765E09-F43A-421E-83F9-8B20269922F5}" type="pres">
      <dgm:prSet presAssocID="{0A6D053F-EB93-4E97-8C59-03F57CB63347}" presName="node" presStyleLbl="node1" presStyleIdx="0" presStyleCnt="2">
        <dgm:presLayoutVars>
          <dgm:bulletEnabled val="1"/>
        </dgm:presLayoutVars>
      </dgm:prSet>
      <dgm:spPr/>
    </dgm:pt>
    <dgm:pt modelId="{01C31C94-4173-4923-98C0-609D6E18B8AD}" type="pres">
      <dgm:prSet presAssocID="{27DE2495-B6E0-4B0A-B5BB-96FD70FC602A}" presName="sibTrans" presStyleLbl="sibTrans2D1" presStyleIdx="0" presStyleCnt="1" custLinFactNeighborX="11176" custLinFactNeighborY="98"/>
      <dgm:spPr/>
    </dgm:pt>
    <dgm:pt modelId="{110C9F95-4095-4BD2-858D-F55262F93880}" type="pres">
      <dgm:prSet presAssocID="{27DE2495-B6E0-4B0A-B5BB-96FD70FC602A}" presName="connectorText" presStyleLbl="sibTrans2D1" presStyleIdx="0" presStyleCnt="1"/>
      <dgm:spPr/>
    </dgm:pt>
    <dgm:pt modelId="{82CF0272-5BC3-46E7-89BA-A10F61083DC1}" type="pres">
      <dgm:prSet presAssocID="{2202542E-448A-4104-BCCD-A7838D00D7C2}" presName="node" presStyleLbl="node1" presStyleIdx="1" presStyleCnt="2">
        <dgm:presLayoutVars>
          <dgm:bulletEnabled val="1"/>
        </dgm:presLayoutVars>
      </dgm:prSet>
      <dgm:spPr/>
    </dgm:pt>
  </dgm:ptLst>
  <dgm:cxnLst>
    <dgm:cxn modelId="{A130A916-AFBB-43DE-89E3-A9B34C10D2C0}" srcId="{50AFF85D-2F60-4884-8A0B-7A32629D96FB}" destId="{0A6D053F-EB93-4E97-8C59-03F57CB63347}" srcOrd="0" destOrd="0" parTransId="{7AE3E8C1-6F67-4BFC-83E2-B8ECE333D995}" sibTransId="{27DE2495-B6E0-4B0A-B5BB-96FD70FC602A}"/>
    <dgm:cxn modelId="{87D6975B-CE97-4B9C-BF6E-3A19594C9B23}" type="presOf" srcId="{50AFF85D-2F60-4884-8A0B-7A32629D96FB}" destId="{B41D5C46-A9C5-4623-84BF-C83FD9CEB575}" srcOrd="0" destOrd="0" presId="urn:microsoft.com/office/officeart/2005/8/layout/process1"/>
    <dgm:cxn modelId="{020EB55A-0898-460F-B4D2-67F849429E15}" type="presOf" srcId="{27DE2495-B6E0-4B0A-B5BB-96FD70FC602A}" destId="{110C9F95-4095-4BD2-858D-F55262F93880}" srcOrd="1" destOrd="0" presId="urn:microsoft.com/office/officeart/2005/8/layout/process1"/>
    <dgm:cxn modelId="{D3FED897-6217-4599-8BC7-7C9E6EB1FDD1}" srcId="{50AFF85D-2F60-4884-8A0B-7A32629D96FB}" destId="{2202542E-448A-4104-BCCD-A7838D00D7C2}" srcOrd="1" destOrd="0" parTransId="{3F861C11-FB9D-43EF-A46C-CEA89C1DCCE5}" sibTransId="{A2ECF5ED-47F4-41C5-AECA-DCA63B291D69}"/>
    <dgm:cxn modelId="{7F70FDA5-927E-4B9A-9F25-2EB9552996B9}" type="presOf" srcId="{2202542E-448A-4104-BCCD-A7838D00D7C2}" destId="{82CF0272-5BC3-46E7-89BA-A10F61083DC1}" srcOrd="0" destOrd="0" presId="urn:microsoft.com/office/officeart/2005/8/layout/process1"/>
    <dgm:cxn modelId="{4C8794CB-5753-404B-8506-99BB6170AB96}" type="presOf" srcId="{27DE2495-B6E0-4B0A-B5BB-96FD70FC602A}" destId="{01C31C94-4173-4923-98C0-609D6E18B8AD}" srcOrd="0" destOrd="0" presId="urn:microsoft.com/office/officeart/2005/8/layout/process1"/>
    <dgm:cxn modelId="{8D46CAFF-D71D-4C90-A356-045325636C8B}" type="presOf" srcId="{0A6D053F-EB93-4E97-8C59-03F57CB63347}" destId="{EB765E09-F43A-421E-83F9-8B20269922F5}" srcOrd="0" destOrd="0" presId="urn:microsoft.com/office/officeart/2005/8/layout/process1"/>
    <dgm:cxn modelId="{1499A395-C787-4528-B591-6A272EC9D91A}" type="presParOf" srcId="{B41D5C46-A9C5-4623-84BF-C83FD9CEB575}" destId="{EB765E09-F43A-421E-83F9-8B20269922F5}" srcOrd="0" destOrd="0" presId="urn:microsoft.com/office/officeart/2005/8/layout/process1"/>
    <dgm:cxn modelId="{FD0DC5DD-F704-458C-9D03-DC6719C378AA}" type="presParOf" srcId="{B41D5C46-A9C5-4623-84BF-C83FD9CEB575}" destId="{01C31C94-4173-4923-98C0-609D6E18B8AD}" srcOrd="1" destOrd="0" presId="urn:microsoft.com/office/officeart/2005/8/layout/process1"/>
    <dgm:cxn modelId="{F558A1DA-59CF-422A-AEB9-80ACD391DBD1}" type="presParOf" srcId="{01C31C94-4173-4923-98C0-609D6E18B8AD}" destId="{110C9F95-4095-4BD2-858D-F55262F93880}" srcOrd="0" destOrd="0" presId="urn:microsoft.com/office/officeart/2005/8/layout/process1"/>
    <dgm:cxn modelId="{38635463-D8AF-416C-82F6-9FC5940858CB}" type="presParOf" srcId="{B41D5C46-A9C5-4623-84BF-C83FD9CEB575}" destId="{82CF0272-5BC3-46E7-89BA-A10F61083DC1}"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CCDE5A-2D30-4910-88B6-5934F197AFB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CFCADB2-B5EF-4AE4-90F1-1FD2A5147D51}">
      <dgm:prSet custT="1"/>
      <dgm:spPr/>
      <dgm:t>
        <a:bodyPr/>
        <a:lstStyle/>
        <a:p>
          <a:r>
            <a:rPr lang="en-US" sz="2600" b="0" i="0" dirty="0"/>
            <a:t>Imputation</a:t>
          </a:r>
          <a:endParaRPr lang="en-US" sz="2600" dirty="0"/>
        </a:p>
      </dgm:t>
    </dgm:pt>
    <dgm:pt modelId="{8A08DD6B-1096-4977-AA08-63EAAB12C54B}" type="parTrans" cxnId="{A7A1AE23-BAC9-40C3-9242-E7CC71A854E0}">
      <dgm:prSet/>
      <dgm:spPr/>
      <dgm:t>
        <a:bodyPr/>
        <a:lstStyle/>
        <a:p>
          <a:endParaRPr lang="en-US"/>
        </a:p>
      </dgm:t>
    </dgm:pt>
    <dgm:pt modelId="{85EF9B1E-6662-4874-9493-F64A7FE57244}" type="sibTrans" cxnId="{A7A1AE23-BAC9-40C3-9242-E7CC71A854E0}">
      <dgm:prSet/>
      <dgm:spPr/>
      <dgm:t>
        <a:bodyPr/>
        <a:lstStyle/>
        <a:p>
          <a:endParaRPr lang="en-US"/>
        </a:p>
      </dgm:t>
    </dgm:pt>
    <dgm:pt modelId="{11BD2696-BF89-4599-B958-81ED2F379A3F}">
      <dgm:prSet custT="1"/>
      <dgm:spPr/>
      <dgm:t>
        <a:bodyPr/>
        <a:lstStyle/>
        <a:p>
          <a:r>
            <a:rPr lang="en-US" sz="1800" b="0" i="0" dirty="0">
              <a:solidFill>
                <a:schemeClr val="bg1"/>
              </a:solidFill>
            </a:rPr>
            <a:t>Age interpolated when ≥2 records using Year</a:t>
          </a:r>
          <a:endParaRPr lang="en-US" sz="1800" dirty="0">
            <a:solidFill>
              <a:schemeClr val="bg1"/>
            </a:solidFill>
          </a:endParaRPr>
        </a:p>
      </dgm:t>
    </dgm:pt>
    <dgm:pt modelId="{2D8D9A16-1B17-453F-BC04-6751E8C175EF}" type="parTrans" cxnId="{9A76B27B-F44A-4A31-89E0-E0210160EDE7}">
      <dgm:prSet/>
      <dgm:spPr/>
      <dgm:t>
        <a:bodyPr/>
        <a:lstStyle/>
        <a:p>
          <a:endParaRPr lang="en-US"/>
        </a:p>
      </dgm:t>
    </dgm:pt>
    <dgm:pt modelId="{EF6CEE42-879D-44AC-8436-2DF830B54465}" type="sibTrans" cxnId="{9A76B27B-F44A-4A31-89E0-E0210160EDE7}">
      <dgm:prSet/>
      <dgm:spPr/>
      <dgm:t>
        <a:bodyPr/>
        <a:lstStyle/>
        <a:p>
          <a:endParaRPr lang="en-US"/>
        </a:p>
      </dgm:t>
    </dgm:pt>
    <dgm:pt modelId="{95AE90BE-4654-4188-806A-7AA7C7BBF4AF}">
      <dgm:prSet custT="1"/>
      <dgm:spPr/>
      <dgm:t>
        <a:bodyPr/>
        <a:lstStyle/>
        <a:p>
          <a:r>
            <a:rPr lang="en-US" sz="1800" b="0" i="0" dirty="0">
              <a:solidFill>
                <a:schemeClr val="bg1"/>
              </a:solidFill>
            </a:rPr>
            <a:t>AFQT &amp; education carried forward/backward, fill max grade</a:t>
          </a:r>
          <a:endParaRPr lang="en-US" sz="1800" dirty="0">
            <a:solidFill>
              <a:schemeClr val="bg1"/>
            </a:solidFill>
          </a:endParaRPr>
        </a:p>
      </dgm:t>
    </dgm:pt>
    <dgm:pt modelId="{F7700CE5-AC7B-4FDC-A018-CCE8A39B9811}" type="parTrans" cxnId="{9B1ED46C-42B1-45C9-A5AB-8C8E3D88DA8D}">
      <dgm:prSet/>
      <dgm:spPr/>
      <dgm:t>
        <a:bodyPr/>
        <a:lstStyle/>
        <a:p>
          <a:endParaRPr lang="en-US"/>
        </a:p>
      </dgm:t>
    </dgm:pt>
    <dgm:pt modelId="{CC506DC9-CE34-42D3-9BE5-4693B301F055}" type="sibTrans" cxnId="{9B1ED46C-42B1-45C9-A5AB-8C8E3D88DA8D}">
      <dgm:prSet/>
      <dgm:spPr/>
      <dgm:t>
        <a:bodyPr/>
        <a:lstStyle/>
        <a:p>
          <a:endParaRPr lang="en-US"/>
        </a:p>
      </dgm:t>
    </dgm:pt>
    <dgm:pt modelId="{21CA8C3D-BE1B-4B73-B945-330E0C4EA754}">
      <dgm:prSet custT="1"/>
      <dgm:spPr/>
      <dgm:t>
        <a:bodyPr/>
        <a:lstStyle/>
        <a:p>
          <a:r>
            <a:rPr lang="en-US" sz="1800" b="0" i="0" dirty="0">
              <a:solidFill>
                <a:schemeClr val="bg1"/>
              </a:solidFill>
            </a:rPr>
            <a:t>Employment status LOCF (Last Observation Carried Forward)</a:t>
          </a:r>
          <a:endParaRPr lang="en-US" sz="1800" dirty="0">
            <a:solidFill>
              <a:schemeClr val="bg1"/>
            </a:solidFill>
          </a:endParaRPr>
        </a:p>
      </dgm:t>
    </dgm:pt>
    <dgm:pt modelId="{6C7A05C7-DCD7-4E4D-AADC-0F62404FBFC4}" type="parTrans" cxnId="{273BA8E6-BE5F-4E08-9523-0331B9672F4A}">
      <dgm:prSet/>
      <dgm:spPr/>
      <dgm:t>
        <a:bodyPr/>
        <a:lstStyle/>
        <a:p>
          <a:endParaRPr lang="en-US"/>
        </a:p>
      </dgm:t>
    </dgm:pt>
    <dgm:pt modelId="{AA91251F-310A-42BF-9C42-115E6601FA37}" type="sibTrans" cxnId="{273BA8E6-BE5F-4E08-9523-0331B9672F4A}">
      <dgm:prSet/>
      <dgm:spPr/>
      <dgm:t>
        <a:bodyPr/>
        <a:lstStyle/>
        <a:p>
          <a:endParaRPr lang="en-US"/>
        </a:p>
      </dgm:t>
    </dgm:pt>
    <dgm:pt modelId="{8CFE8125-2738-4069-8CAF-9039C5B5EE49}">
      <dgm:prSet custT="1"/>
      <dgm:spPr/>
      <dgm:t>
        <a:bodyPr/>
        <a:lstStyle/>
        <a:p>
          <a:r>
            <a:rPr lang="en-US" sz="1800" b="0" i="0" dirty="0">
              <a:solidFill>
                <a:schemeClr val="bg1"/>
              </a:solidFill>
            </a:rPr>
            <a:t>Filter complete cases → final </a:t>
          </a:r>
          <a:r>
            <a:rPr lang="en-US" sz="1800" b="0" i="0" dirty="0">
              <a:solidFill>
                <a:srgbClr val="00B050"/>
              </a:solidFill>
            </a:rPr>
            <a:t>N ≈ 247,000 </a:t>
          </a:r>
          <a:r>
            <a:rPr lang="en-US" sz="1800" b="0" i="0" dirty="0" err="1">
              <a:solidFill>
                <a:srgbClr val="00B050"/>
              </a:solidFill>
            </a:rPr>
            <a:t>obs</a:t>
          </a:r>
          <a:r>
            <a:rPr lang="en-US" sz="1800" b="0" i="0" dirty="0">
              <a:solidFill>
                <a:srgbClr val="00B050"/>
              </a:solidFill>
            </a:rPr>
            <a:t>, 17,492 IDs</a:t>
          </a:r>
          <a:endParaRPr lang="en-US" sz="1800" dirty="0">
            <a:solidFill>
              <a:srgbClr val="00B050"/>
            </a:solidFill>
          </a:endParaRPr>
        </a:p>
      </dgm:t>
    </dgm:pt>
    <dgm:pt modelId="{2880D843-F621-47EC-BD13-AE8B3A6FDDEC}" type="parTrans" cxnId="{62FD04A4-3D7E-4152-83AB-F6E429F0CC88}">
      <dgm:prSet/>
      <dgm:spPr/>
      <dgm:t>
        <a:bodyPr/>
        <a:lstStyle/>
        <a:p>
          <a:endParaRPr lang="en-US"/>
        </a:p>
      </dgm:t>
    </dgm:pt>
    <dgm:pt modelId="{01465CF6-1D10-42F0-8E5D-863FC282E680}" type="sibTrans" cxnId="{62FD04A4-3D7E-4152-83AB-F6E429F0CC88}">
      <dgm:prSet/>
      <dgm:spPr/>
      <dgm:t>
        <a:bodyPr/>
        <a:lstStyle/>
        <a:p>
          <a:endParaRPr lang="en-US"/>
        </a:p>
      </dgm:t>
    </dgm:pt>
    <dgm:pt modelId="{577EB021-C8FA-4EE7-AC28-700DEEBD1FA6}" type="pres">
      <dgm:prSet presAssocID="{2FCCDE5A-2D30-4910-88B6-5934F197AFB8}" presName="linear" presStyleCnt="0">
        <dgm:presLayoutVars>
          <dgm:animLvl val="lvl"/>
          <dgm:resizeHandles val="exact"/>
        </dgm:presLayoutVars>
      </dgm:prSet>
      <dgm:spPr/>
    </dgm:pt>
    <dgm:pt modelId="{0902AA15-C84B-4F0D-8F90-A900C1AD5345}" type="pres">
      <dgm:prSet presAssocID="{1CFCADB2-B5EF-4AE4-90F1-1FD2A5147D51}" presName="parentText" presStyleLbl="node1" presStyleIdx="0" presStyleCnt="1" custScaleY="50132" custLinFactNeighborY="-11909">
        <dgm:presLayoutVars>
          <dgm:chMax val="0"/>
          <dgm:bulletEnabled val="1"/>
        </dgm:presLayoutVars>
      </dgm:prSet>
      <dgm:spPr/>
    </dgm:pt>
    <dgm:pt modelId="{4AC32BF1-7433-4AA1-A570-3B1A4C3EF3B0}" type="pres">
      <dgm:prSet presAssocID="{1CFCADB2-B5EF-4AE4-90F1-1FD2A5147D51}" presName="childText" presStyleLbl="revTx" presStyleIdx="0" presStyleCnt="1">
        <dgm:presLayoutVars>
          <dgm:bulletEnabled val="1"/>
        </dgm:presLayoutVars>
      </dgm:prSet>
      <dgm:spPr/>
    </dgm:pt>
  </dgm:ptLst>
  <dgm:cxnLst>
    <dgm:cxn modelId="{A7A1AE23-BAC9-40C3-9242-E7CC71A854E0}" srcId="{2FCCDE5A-2D30-4910-88B6-5934F197AFB8}" destId="{1CFCADB2-B5EF-4AE4-90F1-1FD2A5147D51}" srcOrd="0" destOrd="0" parTransId="{8A08DD6B-1096-4977-AA08-63EAAB12C54B}" sibTransId="{85EF9B1E-6662-4874-9493-F64A7FE57244}"/>
    <dgm:cxn modelId="{9B1ED46C-42B1-45C9-A5AB-8C8E3D88DA8D}" srcId="{1CFCADB2-B5EF-4AE4-90F1-1FD2A5147D51}" destId="{95AE90BE-4654-4188-806A-7AA7C7BBF4AF}" srcOrd="1" destOrd="0" parTransId="{F7700CE5-AC7B-4FDC-A018-CCE8A39B9811}" sibTransId="{CC506DC9-CE34-42D3-9BE5-4693B301F055}"/>
    <dgm:cxn modelId="{1010794E-1A36-4135-86CA-FAC6DAE18F6C}" type="presOf" srcId="{11BD2696-BF89-4599-B958-81ED2F379A3F}" destId="{4AC32BF1-7433-4AA1-A570-3B1A4C3EF3B0}" srcOrd="0" destOrd="0" presId="urn:microsoft.com/office/officeart/2005/8/layout/vList2"/>
    <dgm:cxn modelId="{9A76B27B-F44A-4A31-89E0-E0210160EDE7}" srcId="{1CFCADB2-B5EF-4AE4-90F1-1FD2A5147D51}" destId="{11BD2696-BF89-4599-B958-81ED2F379A3F}" srcOrd="0" destOrd="0" parTransId="{2D8D9A16-1B17-453F-BC04-6751E8C175EF}" sibTransId="{EF6CEE42-879D-44AC-8436-2DF830B54465}"/>
    <dgm:cxn modelId="{2D40097E-A011-41F0-A813-6B67FF46FCA0}" type="presOf" srcId="{2FCCDE5A-2D30-4910-88B6-5934F197AFB8}" destId="{577EB021-C8FA-4EE7-AC28-700DEEBD1FA6}" srcOrd="0" destOrd="0" presId="urn:microsoft.com/office/officeart/2005/8/layout/vList2"/>
    <dgm:cxn modelId="{EB205594-60B3-4F16-B5CC-164E5831E431}" type="presOf" srcId="{8CFE8125-2738-4069-8CAF-9039C5B5EE49}" destId="{4AC32BF1-7433-4AA1-A570-3B1A4C3EF3B0}" srcOrd="0" destOrd="3" presId="urn:microsoft.com/office/officeart/2005/8/layout/vList2"/>
    <dgm:cxn modelId="{62FD04A4-3D7E-4152-83AB-F6E429F0CC88}" srcId="{1CFCADB2-B5EF-4AE4-90F1-1FD2A5147D51}" destId="{8CFE8125-2738-4069-8CAF-9039C5B5EE49}" srcOrd="3" destOrd="0" parTransId="{2880D843-F621-47EC-BD13-AE8B3A6FDDEC}" sibTransId="{01465CF6-1D10-42F0-8E5D-863FC282E680}"/>
    <dgm:cxn modelId="{C6E22AA7-221D-45C7-8099-572E2A7902CF}" type="presOf" srcId="{1CFCADB2-B5EF-4AE4-90F1-1FD2A5147D51}" destId="{0902AA15-C84B-4F0D-8F90-A900C1AD5345}" srcOrd="0" destOrd="0" presId="urn:microsoft.com/office/officeart/2005/8/layout/vList2"/>
    <dgm:cxn modelId="{786A0BCB-B11A-404A-B7DA-F156804DA87F}" type="presOf" srcId="{21CA8C3D-BE1B-4B73-B945-330E0C4EA754}" destId="{4AC32BF1-7433-4AA1-A570-3B1A4C3EF3B0}" srcOrd="0" destOrd="2" presId="urn:microsoft.com/office/officeart/2005/8/layout/vList2"/>
    <dgm:cxn modelId="{3CA7F2CC-B16E-4C96-9648-A15A3085189C}" type="presOf" srcId="{95AE90BE-4654-4188-806A-7AA7C7BBF4AF}" destId="{4AC32BF1-7433-4AA1-A570-3B1A4C3EF3B0}" srcOrd="0" destOrd="1" presId="urn:microsoft.com/office/officeart/2005/8/layout/vList2"/>
    <dgm:cxn modelId="{273BA8E6-BE5F-4E08-9523-0331B9672F4A}" srcId="{1CFCADB2-B5EF-4AE4-90F1-1FD2A5147D51}" destId="{21CA8C3D-BE1B-4B73-B945-330E0C4EA754}" srcOrd="2" destOrd="0" parTransId="{6C7A05C7-DCD7-4E4D-AADC-0F62404FBFC4}" sibTransId="{AA91251F-310A-42BF-9C42-115E6601FA37}"/>
    <dgm:cxn modelId="{FB67C521-D642-4EBC-979F-5FFF6BC56300}" type="presParOf" srcId="{577EB021-C8FA-4EE7-AC28-700DEEBD1FA6}" destId="{0902AA15-C84B-4F0D-8F90-A900C1AD5345}" srcOrd="0" destOrd="0" presId="urn:microsoft.com/office/officeart/2005/8/layout/vList2"/>
    <dgm:cxn modelId="{38F771EA-0F2F-4459-8919-CD88E8A40F13}" type="presParOf" srcId="{577EB021-C8FA-4EE7-AC28-700DEEBD1FA6}" destId="{4AC32BF1-7433-4AA1-A570-3B1A4C3EF3B0}"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6FA1D6-8007-4A70-8DE4-EFF8053A773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BC9A425-BAE8-45B2-88AA-759925A4A722}">
      <dgm:prSet custT="1"/>
      <dgm:spPr/>
      <dgm:t>
        <a:bodyPr/>
        <a:lstStyle/>
        <a:p>
          <a:r>
            <a:rPr lang="en-US" sz="2600" b="0" i="0" dirty="0"/>
            <a:t>Feature Engineering</a:t>
          </a:r>
          <a:endParaRPr lang="en-US" sz="2600" dirty="0"/>
        </a:p>
      </dgm:t>
    </dgm:pt>
    <dgm:pt modelId="{8C42EC27-EB5B-4CD4-8EE8-C1F4532E38B3}" type="parTrans" cxnId="{911B794C-7D74-4A97-94A9-57F6629AA5FE}">
      <dgm:prSet/>
      <dgm:spPr/>
      <dgm:t>
        <a:bodyPr/>
        <a:lstStyle/>
        <a:p>
          <a:endParaRPr lang="en-US"/>
        </a:p>
      </dgm:t>
    </dgm:pt>
    <dgm:pt modelId="{C0511AA3-A7B3-41F6-9EF9-7D68D2549E3B}" type="sibTrans" cxnId="{911B794C-7D74-4A97-94A9-57F6629AA5FE}">
      <dgm:prSet/>
      <dgm:spPr/>
      <dgm:t>
        <a:bodyPr/>
        <a:lstStyle/>
        <a:p>
          <a:endParaRPr lang="en-US"/>
        </a:p>
      </dgm:t>
    </dgm:pt>
    <dgm:pt modelId="{BE7EFC87-2FA8-4754-BBD9-E810FE0ADC69}">
      <dgm:prSet custT="1"/>
      <dgm:spPr/>
      <dgm:t>
        <a:bodyPr/>
        <a:lstStyle/>
        <a:p>
          <a:r>
            <a:rPr lang="en-US" sz="1800" b="0" i="0" dirty="0">
              <a:solidFill>
                <a:schemeClr val="bg1"/>
              </a:solidFill>
            </a:rPr>
            <a:t>Age Centered</a:t>
          </a:r>
          <a:endParaRPr lang="en-US" sz="1800" dirty="0">
            <a:solidFill>
              <a:schemeClr val="bg1"/>
            </a:solidFill>
          </a:endParaRPr>
        </a:p>
      </dgm:t>
    </dgm:pt>
    <dgm:pt modelId="{C40081AE-0718-4F69-B8C3-71D2B09EA0F8}" type="parTrans" cxnId="{70C0CDCA-634D-4689-B217-89681E6885C5}">
      <dgm:prSet/>
      <dgm:spPr/>
      <dgm:t>
        <a:bodyPr/>
        <a:lstStyle/>
        <a:p>
          <a:endParaRPr lang="en-US"/>
        </a:p>
      </dgm:t>
    </dgm:pt>
    <dgm:pt modelId="{F0321D03-384F-4F34-81A2-1D7ADA2E28FC}" type="sibTrans" cxnId="{70C0CDCA-634D-4689-B217-89681E6885C5}">
      <dgm:prSet/>
      <dgm:spPr/>
      <dgm:t>
        <a:bodyPr/>
        <a:lstStyle/>
        <a:p>
          <a:endParaRPr lang="en-US"/>
        </a:p>
      </dgm:t>
    </dgm:pt>
    <dgm:pt modelId="{B8D9D429-4EE3-422F-99E0-67CED6412383}">
      <dgm:prSet custT="1"/>
      <dgm:spPr/>
      <dgm:t>
        <a:bodyPr/>
        <a:lstStyle/>
        <a:p>
          <a:r>
            <a:rPr lang="en-US" sz="1800" b="0" i="0" dirty="0">
              <a:solidFill>
                <a:schemeClr val="bg1"/>
              </a:solidFill>
            </a:rPr>
            <a:t>AFQT &amp; education scores standardized</a:t>
          </a:r>
          <a:endParaRPr lang="en-US" sz="1800" dirty="0">
            <a:solidFill>
              <a:schemeClr val="bg1"/>
            </a:solidFill>
          </a:endParaRPr>
        </a:p>
      </dgm:t>
    </dgm:pt>
    <dgm:pt modelId="{FEF075AF-B294-44C7-81B6-DF57A36DC3FA}" type="parTrans" cxnId="{96E1CB27-4510-4824-BFBD-4C1F654DC591}">
      <dgm:prSet/>
      <dgm:spPr/>
      <dgm:t>
        <a:bodyPr/>
        <a:lstStyle/>
        <a:p>
          <a:endParaRPr lang="en-US"/>
        </a:p>
      </dgm:t>
    </dgm:pt>
    <dgm:pt modelId="{290983CD-AB5A-4B5A-B879-F8C438A54F3E}" type="sibTrans" cxnId="{96E1CB27-4510-4824-BFBD-4C1F654DC591}">
      <dgm:prSet/>
      <dgm:spPr/>
      <dgm:t>
        <a:bodyPr/>
        <a:lstStyle/>
        <a:p>
          <a:endParaRPr lang="en-US"/>
        </a:p>
      </dgm:t>
    </dgm:pt>
    <dgm:pt modelId="{20C63DF4-03D5-4523-8F59-A486781527A9}">
      <dgm:prSet custT="1"/>
      <dgm:spPr/>
      <dgm:t>
        <a:bodyPr/>
        <a:lstStyle/>
        <a:p>
          <a:r>
            <a:rPr lang="en-US" sz="1800" b="0" i="0" dirty="0">
              <a:solidFill>
                <a:schemeClr val="bg1"/>
              </a:solidFill>
            </a:rPr>
            <a:t>Hours worked ÷ 100</a:t>
          </a:r>
          <a:endParaRPr lang="en-US" sz="1800" dirty="0">
            <a:solidFill>
              <a:schemeClr val="bg1"/>
            </a:solidFill>
          </a:endParaRPr>
        </a:p>
      </dgm:t>
    </dgm:pt>
    <dgm:pt modelId="{D2A2F1D2-0B62-4E9E-A8BC-5693CF56B20B}" type="parTrans" cxnId="{0CC0E358-5520-41B6-9E1B-3748DDFE82B2}">
      <dgm:prSet/>
      <dgm:spPr/>
      <dgm:t>
        <a:bodyPr/>
        <a:lstStyle/>
        <a:p>
          <a:endParaRPr lang="en-US"/>
        </a:p>
      </dgm:t>
    </dgm:pt>
    <dgm:pt modelId="{BCFCD6AC-D2F1-4F23-A9EB-F2EF5048A18D}" type="sibTrans" cxnId="{0CC0E358-5520-41B6-9E1B-3748DDFE82B2}">
      <dgm:prSet/>
      <dgm:spPr/>
      <dgm:t>
        <a:bodyPr/>
        <a:lstStyle/>
        <a:p>
          <a:endParaRPr lang="en-US"/>
        </a:p>
      </dgm:t>
    </dgm:pt>
    <dgm:pt modelId="{D19BBD94-118C-4415-8500-EC019CDAB933}">
      <dgm:prSet custT="1"/>
      <dgm:spPr/>
      <dgm:t>
        <a:bodyPr/>
        <a:lstStyle/>
        <a:p>
          <a:r>
            <a:rPr lang="en-US" sz="1800" b="0" i="0" dirty="0">
              <a:solidFill>
                <a:schemeClr val="bg1"/>
              </a:solidFill>
            </a:rPr>
            <a:t>Log-transformed income</a:t>
          </a:r>
          <a:endParaRPr lang="en-US" sz="1800" dirty="0">
            <a:solidFill>
              <a:schemeClr val="bg1"/>
            </a:solidFill>
          </a:endParaRPr>
        </a:p>
      </dgm:t>
    </dgm:pt>
    <dgm:pt modelId="{3B2EABD8-7CCB-4527-B099-C551801D24F2}" type="parTrans" cxnId="{17E46541-7D56-470D-8C73-93D429D2F8E7}">
      <dgm:prSet/>
      <dgm:spPr/>
      <dgm:t>
        <a:bodyPr/>
        <a:lstStyle/>
        <a:p>
          <a:endParaRPr lang="en-US"/>
        </a:p>
      </dgm:t>
    </dgm:pt>
    <dgm:pt modelId="{800A92EC-50FB-4B85-A9B0-CECC5D4C3011}" type="sibTrans" cxnId="{17E46541-7D56-470D-8C73-93D429D2F8E7}">
      <dgm:prSet/>
      <dgm:spPr/>
      <dgm:t>
        <a:bodyPr/>
        <a:lstStyle/>
        <a:p>
          <a:endParaRPr lang="en-US"/>
        </a:p>
      </dgm:t>
    </dgm:pt>
    <dgm:pt modelId="{2570C2C9-DC5F-47B0-B17C-AAD9999D9850}">
      <dgm:prSet custT="1"/>
      <dgm:spPr/>
      <dgm:t>
        <a:bodyPr/>
        <a:lstStyle/>
        <a:p>
          <a:r>
            <a:rPr lang="en-US" sz="1800" b="0" i="0" dirty="0">
              <a:solidFill>
                <a:schemeClr val="bg1"/>
              </a:solidFill>
            </a:rPr>
            <a:t>Survey weights scaled</a:t>
          </a:r>
          <a:endParaRPr lang="en-US" sz="1800" dirty="0">
            <a:solidFill>
              <a:schemeClr val="bg1"/>
            </a:solidFill>
          </a:endParaRPr>
        </a:p>
      </dgm:t>
    </dgm:pt>
    <dgm:pt modelId="{0063F160-0E2E-4B2E-89A1-A324C1FABCB1}" type="parTrans" cxnId="{69EDC6BE-193E-4A44-94A5-E7FA21AE142C}">
      <dgm:prSet/>
      <dgm:spPr/>
      <dgm:t>
        <a:bodyPr/>
        <a:lstStyle/>
        <a:p>
          <a:endParaRPr lang="en-US"/>
        </a:p>
      </dgm:t>
    </dgm:pt>
    <dgm:pt modelId="{31A2CF82-8CA5-4894-8B00-20B1D033AEC6}" type="sibTrans" cxnId="{69EDC6BE-193E-4A44-94A5-E7FA21AE142C}">
      <dgm:prSet/>
      <dgm:spPr/>
      <dgm:t>
        <a:bodyPr/>
        <a:lstStyle/>
        <a:p>
          <a:endParaRPr lang="en-US"/>
        </a:p>
      </dgm:t>
    </dgm:pt>
    <dgm:pt modelId="{F672B4A3-FEE3-4B33-BD43-10EAEEFBF35F}">
      <dgm:prSet custT="1"/>
      <dgm:spPr/>
      <dgm:t>
        <a:bodyPr/>
        <a:lstStyle/>
        <a:p>
          <a:r>
            <a:rPr lang="en-US" sz="1800" dirty="0">
              <a:solidFill>
                <a:schemeClr val="bg1"/>
              </a:solidFill>
            </a:rPr>
            <a:t>Introduced cohort as an additional predictor</a:t>
          </a:r>
        </a:p>
      </dgm:t>
    </dgm:pt>
    <dgm:pt modelId="{D7E23750-52F4-4942-8DF6-68364D5AC201}" type="parTrans" cxnId="{865652B4-8BC2-437D-B0ED-8FF676916F77}">
      <dgm:prSet/>
      <dgm:spPr/>
    </dgm:pt>
    <dgm:pt modelId="{1592B87B-140B-464E-A9CD-E2DFACB6A8DD}" type="sibTrans" cxnId="{865652B4-8BC2-437D-B0ED-8FF676916F77}">
      <dgm:prSet/>
      <dgm:spPr/>
    </dgm:pt>
    <dgm:pt modelId="{9CE691A8-25DF-4973-8B75-A97DCBFAFE75}" type="pres">
      <dgm:prSet presAssocID="{B56FA1D6-8007-4A70-8DE4-EFF8053A773A}" presName="linear" presStyleCnt="0">
        <dgm:presLayoutVars>
          <dgm:animLvl val="lvl"/>
          <dgm:resizeHandles val="exact"/>
        </dgm:presLayoutVars>
      </dgm:prSet>
      <dgm:spPr/>
    </dgm:pt>
    <dgm:pt modelId="{6D68F367-5569-4775-A628-16A4B256BF72}" type="pres">
      <dgm:prSet presAssocID="{BBC9A425-BAE8-45B2-88AA-759925A4A722}" presName="parentText" presStyleLbl="node1" presStyleIdx="0" presStyleCnt="1" custScaleY="43493" custLinFactX="4148" custLinFactNeighborX="100000" custLinFactNeighborY="-10121">
        <dgm:presLayoutVars>
          <dgm:chMax val="0"/>
          <dgm:bulletEnabled val="1"/>
        </dgm:presLayoutVars>
      </dgm:prSet>
      <dgm:spPr/>
    </dgm:pt>
    <dgm:pt modelId="{37AC9B3E-A3E7-45A5-A182-516C9C88157E}" type="pres">
      <dgm:prSet presAssocID="{BBC9A425-BAE8-45B2-88AA-759925A4A722}" presName="childText" presStyleLbl="revTx" presStyleIdx="0" presStyleCnt="1">
        <dgm:presLayoutVars>
          <dgm:bulletEnabled val="1"/>
        </dgm:presLayoutVars>
      </dgm:prSet>
      <dgm:spPr/>
    </dgm:pt>
  </dgm:ptLst>
  <dgm:cxnLst>
    <dgm:cxn modelId="{96E1CB27-4510-4824-BFBD-4C1F654DC591}" srcId="{BBC9A425-BAE8-45B2-88AA-759925A4A722}" destId="{B8D9D429-4EE3-422F-99E0-67CED6412383}" srcOrd="1" destOrd="0" parTransId="{FEF075AF-B294-44C7-81B6-DF57A36DC3FA}" sibTransId="{290983CD-AB5A-4B5A-B879-F8C438A54F3E}"/>
    <dgm:cxn modelId="{82DF0429-A8A5-4CB9-9FFC-9E15AF0DB0DB}" type="presOf" srcId="{F672B4A3-FEE3-4B33-BD43-10EAEEFBF35F}" destId="{37AC9B3E-A3E7-45A5-A182-516C9C88157E}" srcOrd="0" destOrd="5" presId="urn:microsoft.com/office/officeart/2005/8/layout/vList2"/>
    <dgm:cxn modelId="{D6B3DA5B-9572-4D86-9F2F-AE3E72668175}" type="presOf" srcId="{BBC9A425-BAE8-45B2-88AA-759925A4A722}" destId="{6D68F367-5569-4775-A628-16A4B256BF72}" srcOrd="0" destOrd="0" presId="urn:microsoft.com/office/officeart/2005/8/layout/vList2"/>
    <dgm:cxn modelId="{17E46541-7D56-470D-8C73-93D429D2F8E7}" srcId="{BBC9A425-BAE8-45B2-88AA-759925A4A722}" destId="{D19BBD94-118C-4415-8500-EC019CDAB933}" srcOrd="3" destOrd="0" parTransId="{3B2EABD8-7CCB-4527-B099-C551801D24F2}" sibTransId="{800A92EC-50FB-4B85-A9B0-CECC5D4C3011}"/>
    <dgm:cxn modelId="{496E4B62-EEE5-411E-BC07-8815C39325BF}" type="presOf" srcId="{B56FA1D6-8007-4A70-8DE4-EFF8053A773A}" destId="{9CE691A8-25DF-4973-8B75-A97DCBFAFE75}" srcOrd="0" destOrd="0" presId="urn:microsoft.com/office/officeart/2005/8/layout/vList2"/>
    <dgm:cxn modelId="{911B794C-7D74-4A97-94A9-57F6629AA5FE}" srcId="{B56FA1D6-8007-4A70-8DE4-EFF8053A773A}" destId="{BBC9A425-BAE8-45B2-88AA-759925A4A722}" srcOrd="0" destOrd="0" parTransId="{8C42EC27-EB5B-4CD4-8EE8-C1F4532E38B3}" sibTransId="{C0511AA3-A7B3-41F6-9EF9-7D68D2549E3B}"/>
    <dgm:cxn modelId="{9D6CF851-4505-41E4-B7AB-EE54617AF0E6}" type="presOf" srcId="{BE7EFC87-2FA8-4754-BBD9-E810FE0ADC69}" destId="{37AC9B3E-A3E7-45A5-A182-516C9C88157E}" srcOrd="0" destOrd="0" presId="urn:microsoft.com/office/officeart/2005/8/layout/vList2"/>
    <dgm:cxn modelId="{5B32A977-01A0-493E-87C4-030D3A3DD07D}" type="presOf" srcId="{B8D9D429-4EE3-422F-99E0-67CED6412383}" destId="{37AC9B3E-A3E7-45A5-A182-516C9C88157E}" srcOrd="0" destOrd="1" presId="urn:microsoft.com/office/officeart/2005/8/layout/vList2"/>
    <dgm:cxn modelId="{0CC0E358-5520-41B6-9E1B-3748DDFE82B2}" srcId="{BBC9A425-BAE8-45B2-88AA-759925A4A722}" destId="{20C63DF4-03D5-4523-8F59-A486781527A9}" srcOrd="2" destOrd="0" parTransId="{D2A2F1D2-0B62-4E9E-A8BC-5693CF56B20B}" sibTransId="{BCFCD6AC-D2F1-4F23-A9EB-F2EF5048A18D}"/>
    <dgm:cxn modelId="{1C53657B-96EE-47BD-9EDE-BBA98D48ABD0}" type="presOf" srcId="{D19BBD94-118C-4415-8500-EC019CDAB933}" destId="{37AC9B3E-A3E7-45A5-A182-516C9C88157E}" srcOrd="0" destOrd="3" presId="urn:microsoft.com/office/officeart/2005/8/layout/vList2"/>
    <dgm:cxn modelId="{865652B4-8BC2-437D-B0ED-8FF676916F77}" srcId="{BBC9A425-BAE8-45B2-88AA-759925A4A722}" destId="{F672B4A3-FEE3-4B33-BD43-10EAEEFBF35F}" srcOrd="5" destOrd="0" parTransId="{D7E23750-52F4-4942-8DF6-68364D5AC201}" sibTransId="{1592B87B-140B-464E-A9CD-E2DFACB6A8DD}"/>
    <dgm:cxn modelId="{69EDC6BE-193E-4A44-94A5-E7FA21AE142C}" srcId="{BBC9A425-BAE8-45B2-88AA-759925A4A722}" destId="{2570C2C9-DC5F-47B0-B17C-AAD9999D9850}" srcOrd="4" destOrd="0" parTransId="{0063F160-0E2E-4B2E-89A1-A324C1FABCB1}" sibTransId="{31A2CF82-8CA5-4894-8B00-20B1D033AEC6}"/>
    <dgm:cxn modelId="{F61DFCC8-1C42-438E-8C55-C9B4CD3E3404}" type="presOf" srcId="{2570C2C9-DC5F-47B0-B17C-AAD9999D9850}" destId="{37AC9B3E-A3E7-45A5-A182-516C9C88157E}" srcOrd="0" destOrd="4" presId="urn:microsoft.com/office/officeart/2005/8/layout/vList2"/>
    <dgm:cxn modelId="{70C0CDCA-634D-4689-B217-89681E6885C5}" srcId="{BBC9A425-BAE8-45B2-88AA-759925A4A722}" destId="{BE7EFC87-2FA8-4754-BBD9-E810FE0ADC69}" srcOrd="0" destOrd="0" parTransId="{C40081AE-0718-4F69-B8C3-71D2B09EA0F8}" sibTransId="{F0321D03-384F-4F34-81A2-1D7ADA2E28FC}"/>
    <dgm:cxn modelId="{F70EBCCE-2F0E-4B3D-9366-E65717B2ED7A}" type="presOf" srcId="{20C63DF4-03D5-4523-8F59-A486781527A9}" destId="{37AC9B3E-A3E7-45A5-A182-516C9C88157E}" srcOrd="0" destOrd="2" presId="urn:microsoft.com/office/officeart/2005/8/layout/vList2"/>
    <dgm:cxn modelId="{96738425-AD2B-440D-9FF2-F031203B92AF}" type="presParOf" srcId="{9CE691A8-25DF-4973-8B75-A97DCBFAFE75}" destId="{6D68F367-5569-4775-A628-16A4B256BF72}" srcOrd="0" destOrd="0" presId="urn:microsoft.com/office/officeart/2005/8/layout/vList2"/>
    <dgm:cxn modelId="{D459321C-9778-4B22-AB7F-BDA9CD31E191}" type="presParOf" srcId="{9CE691A8-25DF-4973-8B75-A97DCBFAFE75}" destId="{37AC9B3E-A3E7-45A5-A182-516C9C88157E}"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5F1B3A6-E97E-42F2-A2AE-2DA0D5B5520D}"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C05D4B20-96FA-4F52-B2DE-2C99CD20DE4F}">
      <dgm:prSet custT="1"/>
      <dgm:spPr/>
      <dgm:t>
        <a:bodyPr/>
        <a:lstStyle/>
        <a:p>
          <a:r>
            <a:rPr lang="en-US" sz="1600" b="0" i="0" dirty="0"/>
            <a:t>Clear variation in each person’s income-age slope</a:t>
          </a:r>
        </a:p>
      </dgm:t>
    </dgm:pt>
    <dgm:pt modelId="{DDCF1F91-AF85-482C-8BC1-B48E83ED999C}" type="parTrans" cxnId="{FFA20B12-4247-4144-9D60-4BC1C215BCB0}">
      <dgm:prSet/>
      <dgm:spPr/>
      <dgm:t>
        <a:bodyPr/>
        <a:lstStyle/>
        <a:p>
          <a:endParaRPr lang="en-US"/>
        </a:p>
      </dgm:t>
    </dgm:pt>
    <dgm:pt modelId="{82398760-72F3-41AE-BA38-1D689F31690C}" type="sibTrans" cxnId="{FFA20B12-4247-4144-9D60-4BC1C215BCB0}">
      <dgm:prSet/>
      <dgm:spPr/>
      <dgm:t>
        <a:bodyPr/>
        <a:lstStyle/>
        <a:p>
          <a:endParaRPr lang="en-US"/>
        </a:p>
      </dgm:t>
    </dgm:pt>
    <dgm:pt modelId="{345A40BE-3F0B-4386-8804-120AA65356EA}">
      <dgm:prSet custT="1"/>
      <dgm:spPr/>
      <dgm:t>
        <a:bodyPr/>
        <a:lstStyle/>
        <a:p>
          <a:r>
            <a:rPr lang="en-US" sz="1600" b="0" i="0" dirty="0"/>
            <a:t> include a random slope on age</a:t>
          </a:r>
        </a:p>
      </dgm:t>
    </dgm:pt>
    <dgm:pt modelId="{5D50039E-166F-45B6-9FE4-BA867B90686C}" type="parTrans" cxnId="{5C3B6361-6D13-48EE-A6AB-90CDA8A36305}">
      <dgm:prSet/>
      <dgm:spPr/>
      <dgm:t>
        <a:bodyPr/>
        <a:lstStyle/>
        <a:p>
          <a:endParaRPr lang="en-US"/>
        </a:p>
      </dgm:t>
    </dgm:pt>
    <dgm:pt modelId="{193D26C3-F12A-431A-A863-76E5758901E4}" type="sibTrans" cxnId="{5C3B6361-6D13-48EE-A6AB-90CDA8A36305}">
      <dgm:prSet/>
      <dgm:spPr/>
      <dgm:t>
        <a:bodyPr/>
        <a:lstStyle/>
        <a:p>
          <a:endParaRPr lang="en-US"/>
        </a:p>
      </dgm:t>
    </dgm:pt>
    <dgm:pt modelId="{044E4965-0B58-43F7-B55D-B88066CD1322}">
      <dgm:prSet custT="1"/>
      <dgm:spPr/>
      <dgm:t>
        <a:bodyPr/>
        <a:lstStyle/>
        <a:p>
          <a:r>
            <a:rPr lang="en-US" sz="1600" b="0" i="0" dirty="0"/>
            <a:t>Uneven “jump” when switching to self-employment across individuals</a:t>
          </a:r>
        </a:p>
      </dgm:t>
    </dgm:pt>
    <dgm:pt modelId="{05A6CB13-D823-489B-ACC8-02E0EA4B000F}" type="parTrans" cxnId="{12DFBA9F-8361-4260-8A4C-83D8BB148B1D}">
      <dgm:prSet/>
      <dgm:spPr/>
      <dgm:t>
        <a:bodyPr/>
        <a:lstStyle/>
        <a:p>
          <a:endParaRPr lang="en-US"/>
        </a:p>
      </dgm:t>
    </dgm:pt>
    <dgm:pt modelId="{220B63FF-7B53-4804-B62B-169BC1E9295D}" type="sibTrans" cxnId="{12DFBA9F-8361-4260-8A4C-83D8BB148B1D}">
      <dgm:prSet/>
      <dgm:spPr/>
      <dgm:t>
        <a:bodyPr/>
        <a:lstStyle/>
        <a:p>
          <a:endParaRPr lang="en-US"/>
        </a:p>
      </dgm:t>
    </dgm:pt>
    <dgm:pt modelId="{36CED07C-9E55-4EEE-96CB-30837F20D2BF}">
      <dgm:prSet custT="1"/>
      <dgm:spPr/>
      <dgm:t>
        <a:bodyPr/>
        <a:lstStyle/>
        <a:p>
          <a:r>
            <a:rPr lang="en-US" sz="1600" b="0" i="0" dirty="0"/>
            <a:t>Attempted a random slope on employment status</a:t>
          </a:r>
        </a:p>
      </dgm:t>
    </dgm:pt>
    <dgm:pt modelId="{09807428-6E51-46B3-B196-F4BDA3F18B42}" type="parTrans" cxnId="{D3F30325-5F61-4646-B00D-4B3A66409020}">
      <dgm:prSet/>
      <dgm:spPr/>
      <dgm:t>
        <a:bodyPr/>
        <a:lstStyle/>
        <a:p>
          <a:endParaRPr lang="en-US"/>
        </a:p>
      </dgm:t>
    </dgm:pt>
    <dgm:pt modelId="{C9BBF96C-0BA4-4330-8196-2E5C198CCB70}" type="sibTrans" cxnId="{D3F30325-5F61-4646-B00D-4B3A66409020}">
      <dgm:prSet/>
      <dgm:spPr/>
      <dgm:t>
        <a:bodyPr/>
        <a:lstStyle/>
        <a:p>
          <a:endParaRPr lang="en-US"/>
        </a:p>
      </dgm:t>
    </dgm:pt>
    <dgm:pt modelId="{A8881A66-AAA5-444C-9962-74AD40BD297C}" type="pres">
      <dgm:prSet presAssocID="{A5F1B3A6-E97E-42F2-A2AE-2DA0D5B5520D}" presName="Name0" presStyleCnt="0">
        <dgm:presLayoutVars>
          <dgm:chPref val="3"/>
          <dgm:dir/>
          <dgm:animLvl val="lvl"/>
          <dgm:resizeHandles/>
        </dgm:presLayoutVars>
      </dgm:prSet>
      <dgm:spPr/>
    </dgm:pt>
    <dgm:pt modelId="{4E1DDA30-5FB9-47B3-8A2E-925EC9315ED1}" type="pres">
      <dgm:prSet presAssocID="{C05D4B20-96FA-4F52-B2DE-2C99CD20DE4F}" presName="horFlow" presStyleCnt="0"/>
      <dgm:spPr/>
    </dgm:pt>
    <dgm:pt modelId="{3312C854-BE3A-440A-AB8A-533B057799BE}" type="pres">
      <dgm:prSet presAssocID="{C05D4B20-96FA-4F52-B2DE-2C99CD20DE4F}" presName="bigChev" presStyleLbl="node1" presStyleIdx="0" presStyleCnt="2" custScaleX="127126"/>
      <dgm:spPr/>
    </dgm:pt>
    <dgm:pt modelId="{C7BEF830-0F00-4931-84B9-1A35F19F0A31}" type="pres">
      <dgm:prSet presAssocID="{5D50039E-166F-45B6-9FE4-BA867B90686C}" presName="parTrans" presStyleCnt="0"/>
      <dgm:spPr/>
    </dgm:pt>
    <dgm:pt modelId="{A55D9BFD-ADBF-4C92-90F3-5C85BA70D1B2}" type="pres">
      <dgm:prSet presAssocID="{345A40BE-3F0B-4386-8804-120AA65356EA}" presName="node" presStyleLbl="alignAccFollowNode1" presStyleIdx="0" presStyleCnt="2" custScaleX="128201">
        <dgm:presLayoutVars>
          <dgm:bulletEnabled val="1"/>
        </dgm:presLayoutVars>
      </dgm:prSet>
      <dgm:spPr/>
    </dgm:pt>
    <dgm:pt modelId="{0D05E039-4DCF-4450-BF99-DCBE05CB442B}" type="pres">
      <dgm:prSet presAssocID="{C05D4B20-96FA-4F52-B2DE-2C99CD20DE4F}" presName="vSp" presStyleCnt="0"/>
      <dgm:spPr/>
    </dgm:pt>
    <dgm:pt modelId="{BC1794B6-C872-4543-8F99-1A921A39616E}" type="pres">
      <dgm:prSet presAssocID="{044E4965-0B58-43F7-B55D-B88066CD1322}" presName="horFlow" presStyleCnt="0"/>
      <dgm:spPr/>
    </dgm:pt>
    <dgm:pt modelId="{510C01E4-7D87-4A6D-B00A-89E6F744BA09}" type="pres">
      <dgm:prSet presAssocID="{044E4965-0B58-43F7-B55D-B88066CD1322}" presName="bigChev" presStyleLbl="node1" presStyleIdx="1" presStyleCnt="2" custScaleX="125219"/>
      <dgm:spPr/>
    </dgm:pt>
    <dgm:pt modelId="{5D68D579-C4D2-4843-949F-F455A06EF5FD}" type="pres">
      <dgm:prSet presAssocID="{09807428-6E51-46B3-B196-F4BDA3F18B42}" presName="parTrans" presStyleCnt="0"/>
      <dgm:spPr/>
    </dgm:pt>
    <dgm:pt modelId="{E3283CC3-1431-47A7-8799-D14891C87B1E}" type="pres">
      <dgm:prSet presAssocID="{36CED07C-9E55-4EEE-96CB-30837F20D2BF}" presName="node" presStyleLbl="alignAccFollowNode1" presStyleIdx="1" presStyleCnt="2" custScaleX="133887">
        <dgm:presLayoutVars>
          <dgm:bulletEnabled val="1"/>
        </dgm:presLayoutVars>
      </dgm:prSet>
      <dgm:spPr/>
    </dgm:pt>
  </dgm:ptLst>
  <dgm:cxnLst>
    <dgm:cxn modelId="{FFA20B12-4247-4144-9D60-4BC1C215BCB0}" srcId="{A5F1B3A6-E97E-42F2-A2AE-2DA0D5B5520D}" destId="{C05D4B20-96FA-4F52-B2DE-2C99CD20DE4F}" srcOrd="0" destOrd="0" parTransId="{DDCF1F91-AF85-482C-8BC1-B48E83ED999C}" sibTransId="{82398760-72F3-41AE-BA38-1D689F31690C}"/>
    <dgm:cxn modelId="{EA1E901C-E8F3-4177-8AA7-DEF5B49888B5}" type="presOf" srcId="{36CED07C-9E55-4EEE-96CB-30837F20D2BF}" destId="{E3283CC3-1431-47A7-8799-D14891C87B1E}" srcOrd="0" destOrd="0" presId="urn:microsoft.com/office/officeart/2005/8/layout/lProcess3"/>
    <dgm:cxn modelId="{D3F30325-5F61-4646-B00D-4B3A66409020}" srcId="{044E4965-0B58-43F7-B55D-B88066CD1322}" destId="{36CED07C-9E55-4EEE-96CB-30837F20D2BF}" srcOrd="0" destOrd="0" parTransId="{09807428-6E51-46B3-B196-F4BDA3F18B42}" sibTransId="{C9BBF96C-0BA4-4330-8196-2E5C198CCB70}"/>
    <dgm:cxn modelId="{5C3B6361-6D13-48EE-A6AB-90CDA8A36305}" srcId="{C05D4B20-96FA-4F52-B2DE-2C99CD20DE4F}" destId="{345A40BE-3F0B-4386-8804-120AA65356EA}" srcOrd="0" destOrd="0" parTransId="{5D50039E-166F-45B6-9FE4-BA867B90686C}" sibTransId="{193D26C3-F12A-431A-A863-76E5758901E4}"/>
    <dgm:cxn modelId="{1E0D4249-4338-4B37-A886-D149F6190CE0}" type="presOf" srcId="{A5F1B3A6-E97E-42F2-A2AE-2DA0D5B5520D}" destId="{A8881A66-AAA5-444C-9962-74AD40BD297C}" srcOrd="0" destOrd="0" presId="urn:microsoft.com/office/officeart/2005/8/layout/lProcess3"/>
    <dgm:cxn modelId="{11941752-F1CD-4F5A-8EF7-004A89F012B2}" type="presOf" srcId="{C05D4B20-96FA-4F52-B2DE-2C99CD20DE4F}" destId="{3312C854-BE3A-440A-AB8A-533B057799BE}" srcOrd="0" destOrd="0" presId="urn:microsoft.com/office/officeart/2005/8/layout/lProcess3"/>
    <dgm:cxn modelId="{BBDCF094-D9DA-4C7A-B30A-001B13C7938F}" type="presOf" srcId="{044E4965-0B58-43F7-B55D-B88066CD1322}" destId="{510C01E4-7D87-4A6D-B00A-89E6F744BA09}" srcOrd="0" destOrd="0" presId="urn:microsoft.com/office/officeart/2005/8/layout/lProcess3"/>
    <dgm:cxn modelId="{12DFBA9F-8361-4260-8A4C-83D8BB148B1D}" srcId="{A5F1B3A6-E97E-42F2-A2AE-2DA0D5B5520D}" destId="{044E4965-0B58-43F7-B55D-B88066CD1322}" srcOrd="1" destOrd="0" parTransId="{05A6CB13-D823-489B-ACC8-02E0EA4B000F}" sibTransId="{220B63FF-7B53-4804-B62B-169BC1E9295D}"/>
    <dgm:cxn modelId="{024C74FC-CFE9-41A7-BDD6-4ADD4B9474EE}" type="presOf" srcId="{345A40BE-3F0B-4386-8804-120AA65356EA}" destId="{A55D9BFD-ADBF-4C92-90F3-5C85BA70D1B2}" srcOrd="0" destOrd="0" presId="urn:microsoft.com/office/officeart/2005/8/layout/lProcess3"/>
    <dgm:cxn modelId="{6E04DB91-AF47-4BD2-8647-1F6C3CE3769B}" type="presParOf" srcId="{A8881A66-AAA5-444C-9962-74AD40BD297C}" destId="{4E1DDA30-5FB9-47B3-8A2E-925EC9315ED1}" srcOrd="0" destOrd="0" presId="urn:microsoft.com/office/officeart/2005/8/layout/lProcess3"/>
    <dgm:cxn modelId="{F1C1C0A2-1B17-421E-8145-0CD9D093138B}" type="presParOf" srcId="{4E1DDA30-5FB9-47B3-8A2E-925EC9315ED1}" destId="{3312C854-BE3A-440A-AB8A-533B057799BE}" srcOrd="0" destOrd="0" presId="urn:microsoft.com/office/officeart/2005/8/layout/lProcess3"/>
    <dgm:cxn modelId="{4B250906-42DA-4DAF-841C-FF768466F0A5}" type="presParOf" srcId="{4E1DDA30-5FB9-47B3-8A2E-925EC9315ED1}" destId="{C7BEF830-0F00-4931-84B9-1A35F19F0A31}" srcOrd="1" destOrd="0" presId="urn:microsoft.com/office/officeart/2005/8/layout/lProcess3"/>
    <dgm:cxn modelId="{0F740D34-B976-470E-81FC-4BC816A9BCD3}" type="presParOf" srcId="{4E1DDA30-5FB9-47B3-8A2E-925EC9315ED1}" destId="{A55D9BFD-ADBF-4C92-90F3-5C85BA70D1B2}" srcOrd="2" destOrd="0" presId="urn:microsoft.com/office/officeart/2005/8/layout/lProcess3"/>
    <dgm:cxn modelId="{EB5BCD11-A39A-4A7E-BE35-DE137D16FE6E}" type="presParOf" srcId="{A8881A66-AAA5-444C-9962-74AD40BD297C}" destId="{0D05E039-4DCF-4450-BF99-DCBE05CB442B}" srcOrd="1" destOrd="0" presId="urn:microsoft.com/office/officeart/2005/8/layout/lProcess3"/>
    <dgm:cxn modelId="{F909B058-B323-41EF-B454-0B8F346FD9DB}" type="presParOf" srcId="{A8881A66-AAA5-444C-9962-74AD40BD297C}" destId="{BC1794B6-C872-4543-8F99-1A921A39616E}" srcOrd="2" destOrd="0" presId="urn:microsoft.com/office/officeart/2005/8/layout/lProcess3"/>
    <dgm:cxn modelId="{C1D292B4-7070-427F-AD48-C185EACBC51E}" type="presParOf" srcId="{BC1794B6-C872-4543-8F99-1A921A39616E}" destId="{510C01E4-7D87-4A6D-B00A-89E6F744BA09}" srcOrd="0" destOrd="0" presId="urn:microsoft.com/office/officeart/2005/8/layout/lProcess3"/>
    <dgm:cxn modelId="{BFEDBA72-6B67-4E14-9D22-9599154A25EF}" type="presParOf" srcId="{BC1794B6-C872-4543-8F99-1A921A39616E}" destId="{5D68D579-C4D2-4843-949F-F455A06EF5FD}" srcOrd="1" destOrd="0" presId="urn:microsoft.com/office/officeart/2005/8/layout/lProcess3"/>
    <dgm:cxn modelId="{75D34618-E811-49C0-8EC0-32A79DB27776}" type="presParOf" srcId="{BC1794B6-C872-4543-8F99-1A921A39616E}" destId="{E3283CC3-1431-47A7-8799-D14891C87B1E}" srcOrd="2"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5F1B3A6-E97E-42F2-A2AE-2DA0D5B5520D}"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n-US"/>
        </a:p>
      </dgm:t>
    </dgm:pt>
    <dgm:pt modelId="{01725EA9-8441-46E0-9F45-99389EF29252}">
      <dgm:prSet custT="1"/>
      <dgm:spPr/>
      <dgm:t>
        <a:bodyPr/>
        <a:lstStyle/>
        <a:p>
          <a:r>
            <a:rPr lang="en-US" sz="1600" b="0" i="0" dirty="0"/>
            <a:t>Self‑employed and salaried lines diverge after ~35  </a:t>
          </a:r>
          <a:endParaRPr lang="en-US" sz="1600" dirty="0"/>
        </a:p>
      </dgm:t>
    </dgm:pt>
    <dgm:pt modelId="{BA5B92FB-852F-4B9A-93B1-D29C6A5844E3}" type="parTrans" cxnId="{3105D73C-9AEE-477D-8EAE-1317E94B43AC}">
      <dgm:prSet/>
      <dgm:spPr/>
      <dgm:t>
        <a:bodyPr/>
        <a:lstStyle/>
        <a:p>
          <a:endParaRPr lang="en-US"/>
        </a:p>
      </dgm:t>
    </dgm:pt>
    <dgm:pt modelId="{A35F6249-72B2-4D7C-AB98-68CE0EE546F6}" type="sibTrans" cxnId="{3105D73C-9AEE-477D-8EAE-1317E94B43AC}">
      <dgm:prSet/>
      <dgm:spPr/>
      <dgm:t>
        <a:bodyPr/>
        <a:lstStyle/>
        <a:p>
          <a:endParaRPr lang="en-US"/>
        </a:p>
      </dgm:t>
    </dgm:pt>
    <dgm:pt modelId="{3EC6B91B-12BE-4A32-B829-0AF07135FF73}">
      <dgm:prSet/>
      <dgm:spPr/>
      <dgm:t>
        <a:bodyPr/>
        <a:lstStyle/>
        <a:p>
          <a:r>
            <a:rPr lang="en-US" b="0" i="0"/>
            <a:t>add a fixed age × employment interaction.</a:t>
          </a:r>
          <a:endParaRPr lang="en-US"/>
        </a:p>
      </dgm:t>
    </dgm:pt>
    <dgm:pt modelId="{0773E68C-6494-455E-AF8C-D3FB7CDF1759}" type="parTrans" cxnId="{67901B2F-1D0E-4E00-A0C6-AEB0C021C263}">
      <dgm:prSet/>
      <dgm:spPr/>
      <dgm:t>
        <a:bodyPr/>
        <a:lstStyle/>
        <a:p>
          <a:endParaRPr lang="en-US"/>
        </a:p>
      </dgm:t>
    </dgm:pt>
    <dgm:pt modelId="{8EC93CBD-67AE-47D7-B3CE-93C529D34DD2}" type="sibTrans" cxnId="{67901B2F-1D0E-4E00-A0C6-AEB0C021C263}">
      <dgm:prSet/>
      <dgm:spPr/>
      <dgm:t>
        <a:bodyPr/>
        <a:lstStyle/>
        <a:p>
          <a:endParaRPr lang="en-US"/>
        </a:p>
      </dgm:t>
    </dgm:pt>
    <dgm:pt modelId="{A8881A66-AAA5-444C-9962-74AD40BD297C}" type="pres">
      <dgm:prSet presAssocID="{A5F1B3A6-E97E-42F2-A2AE-2DA0D5B5520D}" presName="Name0" presStyleCnt="0">
        <dgm:presLayoutVars>
          <dgm:chPref val="3"/>
          <dgm:dir/>
          <dgm:animLvl val="lvl"/>
          <dgm:resizeHandles/>
        </dgm:presLayoutVars>
      </dgm:prSet>
      <dgm:spPr/>
    </dgm:pt>
    <dgm:pt modelId="{F373014D-5755-45AE-A709-30535FCB79D7}" type="pres">
      <dgm:prSet presAssocID="{01725EA9-8441-46E0-9F45-99389EF29252}" presName="horFlow" presStyleCnt="0"/>
      <dgm:spPr/>
    </dgm:pt>
    <dgm:pt modelId="{725E0AD6-D602-4414-B1BE-29F9D080D4D3}" type="pres">
      <dgm:prSet presAssocID="{01725EA9-8441-46E0-9F45-99389EF29252}" presName="bigChev" presStyleLbl="node1" presStyleIdx="0" presStyleCnt="1"/>
      <dgm:spPr/>
    </dgm:pt>
    <dgm:pt modelId="{9087EE9A-6EF8-43BA-9718-2606719B3FCB}" type="pres">
      <dgm:prSet presAssocID="{0773E68C-6494-455E-AF8C-D3FB7CDF1759}" presName="parTrans" presStyleCnt="0"/>
      <dgm:spPr/>
    </dgm:pt>
    <dgm:pt modelId="{F7DF215B-52CC-4244-8B0C-8DD0AB5597A4}" type="pres">
      <dgm:prSet presAssocID="{3EC6B91B-12BE-4A32-B829-0AF07135FF73}" presName="node" presStyleLbl="alignAccFollowNode1" presStyleIdx="0" presStyleCnt="1">
        <dgm:presLayoutVars>
          <dgm:bulletEnabled val="1"/>
        </dgm:presLayoutVars>
      </dgm:prSet>
      <dgm:spPr/>
    </dgm:pt>
  </dgm:ptLst>
  <dgm:cxnLst>
    <dgm:cxn modelId="{468E131C-938F-48B5-8735-6CF10AD69067}" type="presOf" srcId="{01725EA9-8441-46E0-9F45-99389EF29252}" destId="{725E0AD6-D602-4414-B1BE-29F9D080D4D3}" srcOrd="0" destOrd="0" presId="urn:microsoft.com/office/officeart/2005/8/layout/lProcess3"/>
    <dgm:cxn modelId="{67901B2F-1D0E-4E00-A0C6-AEB0C021C263}" srcId="{01725EA9-8441-46E0-9F45-99389EF29252}" destId="{3EC6B91B-12BE-4A32-B829-0AF07135FF73}" srcOrd="0" destOrd="0" parTransId="{0773E68C-6494-455E-AF8C-D3FB7CDF1759}" sibTransId="{8EC93CBD-67AE-47D7-B3CE-93C529D34DD2}"/>
    <dgm:cxn modelId="{3105D73C-9AEE-477D-8EAE-1317E94B43AC}" srcId="{A5F1B3A6-E97E-42F2-A2AE-2DA0D5B5520D}" destId="{01725EA9-8441-46E0-9F45-99389EF29252}" srcOrd="0" destOrd="0" parTransId="{BA5B92FB-852F-4B9A-93B1-D29C6A5844E3}" sibTransId="{A35F6249-72B2-4D7C-AB98-68CE0EE546F6}"/>
    <dgm:cxn modelId="{1E0D4249-4338-4B37-A886-D149F6190CE0}" type="presOf" srcId="{A5F1B3A6-E97E-42F2-A2AE-2DA0D5B5520D}" destId="{A8881A66-AAA5-444C-9962-74AD40BD297C}" srcOrd="0" destOrd="0" presId="urn:microsoft.com/office/officeart/2005/8/layout/lProcess3"/>
    <dgm:cxn modelId="{3C49ED4E-8A44-47D5-A3CB-D832D04BD26A}" type="presOf" srcId="{3EC6B91B-12BE-4A32-B829-0AF07135FF73}" destId="{F7DF215B-52CC-4244-8B0C-8DD0AB5597A4}" srcOrd="0" destOrd="0" presId="urn:microsoft.com/office/officeart/2005/8/layout/lProcess3"/>
    <dgm:cxn modelId="{48019BF8-FAA8-4849-A5B6-DD6B62BB7374}" type="presParOf" srcId="{A8881A66-AAA5-444C-9962-74AD40BD297C}" destId="{F373014D-5755-45AE-A709-30535FCB79D7}" srcOrd="0" destOrd="0" presId="urn:microsoft.com/office/officeart/2005/8/layout/lProcess3"/>
    <dgm:cxn modelId="{7BE1822D-626D-457B-942A-7EC13AC6C208}" type="presParOf" srcId="{F373014D-5755-45AE-A709-30535FCB79D7}" destId="{725E0AD6-D602-4414-B1BE-29F9D080D4D3}" srcOrd="0" destOrd="0" presId="urn:microsoft.com/office/officeart/2005/8/layout/lProcess3"/>
    <dgm:cxn modelId="{D710609C-EA96-4579-8303-E2D20127955A}" type="presParOf" srcId="{F373014D-5755-45AE-A709-30535FCB79D7}" destId="{9087EE9A-6EF8-43BA-9718-2606719B3FCB}" srcOrd="1" destOrd="0" presId="urn:microsoft.com/office/officeart/2005/8/layout/lProcess3"/>
    <dgm:cxn modelId="{B8D27279-A6A3-437C-9C97-487643CA3D0D}" type="presParOf" srcId="{F373014D-5755-45AE-A709-30535FCB79D7}" destId="{F7DF215B-52CC-4244-8B0C-8DD0AB5597A4}" srcOrd="2"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4F5877C-8B8A-422F-AF97-960E07C6CF2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7AFDF95-0000-41AC-A945-1B9242F82F94}">
      <dgm:prSet custT="1"/>
      <dgm:spPr/>
      <dgm:t>
        <a:bodyPr/>
        <a:lstStyle/>
        <a:p>
          <a:r>
            <a:rPr lang="en-US" sz="2800" dirty="0"/>
            <a:t>Conclusion</a:t>
          </a:r>
          <a:endParaRPr lang="en-US" sz="6500" dirty="0"/>
        </a:p>
      </dgm:t>
    </dgm:pt>
    <dgm:pt modelId="{E69A574B-A66B-4E68-A5CA-E77481B2BF05}" type="parTrans" cxnId="{CF901E2B-E325-4691-B648-5907601A85AE}">
      <dgm:prSet/>
      <dgm:spPr/>
      <dgm:t>
        <a:bodyPr/>
        <a:lstStyle/>
        <a:p>
          <a:endParaRPr lang="en-US"/>
        </a:p>
      </dgm:t>
    </dgm:pt>
    <dgm:pt modelId="{735C70BD-40E1-4C48-9E88-056B73724D1E}" type="sibTrans" cxnId="{CF901E2B-E325-4691-B648-5907601A85AE}">
      <dgm:prSet/>
      <dgm:spPr/>
      <dgm:t>
        <a:bodyPr/>
        <a:lstStyle/>
        <a:p>
          <a:endParaRPr lang="en-US"/>
        </a:p>
      </dgm:t>
    </dgm:pt>
    <dgm:pt modelId="{A1F2B2BD-1DA8-4470-8862-F175FF36A493}">
      <dgm:prSet custT="1"/>
      <dgm:spPr/>
      <dgm:t>
        <a:bodyPr/>
        <a:lstStyle/>
        <a:p>
          <a:r>
            <a:rPr lang="en-US" sz="2000" b="0" i="0" dirty="0">
              <a:solidFill>
                <a:schemeClr val="bg1"/>
              </a:solidFill>
            </a:rPr>
            <a:t>“Self-employment yields a growing earnings premium - </a:t>
          </a:r>
          <a:r>
            <a:rPr lang="en-US" sz="2000" b="0" i="0" dirty="0">
              <a:solidFill>
                <a:srgbClr val="00B050"/>
              </a:solidFill>
            </a:rPr>
            <a:t>~57 % higher at mean age, widening over time</a:t>
          </a:r>
          <a:r>
            <a:rPr lang="en-US" sz="2000" b="0" i="0" dirty="0">
              <a:solidFill>
                <a:schemeClr val="bg1"/>
              </a:solidFill>
            </a:rPr>
            <a:t>.”</a:t>
          </a:r>
          <a:endParaRPr lang="en-US" sz="2000" dirty="0">
            <a:solidFill>
              <a:schemeClr val="bg1"/>
            </a:solidFill>
          </a:endParaRPr>
        </a:p>
      </dgm:t>
    </dgm:pt>
    <dgm:pt modelId="{3F527FFC-335A-472E-89B1-4E4D1BD75BF4}" type="parTrans" cxnId="{40CFF0E2-A29C-4B27-BF46-A66978648D5B}">
      <dgm:prSet/>
      <dgm:spPr/>
      <dgm:t>
        <a:bodyPr/>
        <a:lstStyle/>
        <a:p>
          <a:endParaRPr lang="en-US"/>
        </a:p>
      </dgm:t>
    </dgm:pt>
    <dgm:pt modelId="{86485787-E9FD-4679-B815-9EA371FC0B30}" type="sibTrans" cxnId="{40CFF0E2-A29C-4B27-BF46-A66978648D5B}">
      <dgm:prSet/>
      <dgm:spPr/>
      <dgm:t>
        <a:bodyPr/>
        <a:lstStyle/>
        <a:p>
          <a:endParaRPr lang="en-US"/>
        </a:p>
      </dgm:t>
    </dgm:pt>
    <dgm:pt modelId="{F17CA17B-D3BD-4D65-9D0C-409FBC8A655D}">
      <dgm:prSet custT="1"/>
      <dgm:spPr/>
      <dgm:t>
        <a:bodyPr/>
        <a:lstStyle/>
        <a:p>
          <a:r>
            <a:rPr lang="en-US" sz="2000" b="0" i="0" dirty="0">
              <a:solidFill>
                <a:schemeClr val="bg1"/>
              </a:solidFill>
            </a:rPr>
            <a:t> </a:t>
          </a:r>
          <a:r>
            <a:rPr lang="en-US" sz="2000" b="0" i="0" dirty="0">
              <a:solidFill>
                <a:srgbClr val="FF0000"/>
              </a:solidFill>
            </a:rPr>
            <a:t>Large residual variance remains</a:t>
          </a:r>
          <a:r>
            <a:rPr lang="en-US" sz="2000" b="0" i="0" dirty="0">
              <a:solidFill>
                <a:schemeClr val="bg1"/>
              </a:solidFill>
            </a:rPr>
            <a:t>.”</a:t>
          </a:r>
          <a:endParaRPr lang="en-US" sz="2000" dirty="0">
            <a:solidFill>
              <a:schemeClr val="bg1"/>
            </a:solidFill>
          </a:endParaRPr>
        </a:p>
      </dgm:t>
    </dgm:pt>
    <dgm:pt modelId="{A447BBA5-5C19-416E-9463-324A8D155C3B}" type="parTrans" cxnId="{EF62D03D-1A08-45BE-9A37-FCB04D3BE19C}">
      <dgm:prSet/>
      <dgm:spPr/>
      <dgm:t>
        <a:bodyPr/>
        <a:lstStyle/>
        <a:p>
          <a:endParaRPr lang="en-US"/>
        </a:p>
      </dgm:t>
    </dgm:pt>
    <dgm:pt modelId="{EB328407-E822-47C5-AED9-E7BECC0F233C}" type="sibTrans" cxnId="{EF62D03D-1A08-45BE-9A37-FCB04D3BE19C}">
      <dgm:prSet/>
      <dgm:spPr/>
      <dgm:t>
        <a:bodyPr/>
        <a:lstStyle/>
        <a:p>
          <a:endParaRPr lang="en-US"/>
        </a:p>
      </dgm:t>
    </dgm:pt>
    <dgm:pt modelId="{A730951F-D805-486D-B5E2-B430AB18A637}" type="pres">
      <dgm:prSet presAssocID="{E4F5877C-8B8A-422F-AF97-960E07C6CF2A}" presName="linear" presStyleCnt="0">
        <dgm:presLayoutVars>
          <dgm:animLvl val="lvl"/>
          <dgm:resizeHandles val="exact"/>
        </dgm:presLayoutVars>
      </dgm:prSet>
      <dgm:spPr/>
    </dgm:pt>
    <dgm:pt modelId="{FCB38541-E328-464D-A56F-9561E729A47D}" type="pres">
      <dgm:prSet presAssocID="{37AFDF95-0000-41AC-A945-1B9242F82F94}" presName="parentText" presStyleLbl="node1" presStyleIdx="0" presStyleCnt="1" custScaleY="63372" custLinFactNeighborY="-68416">
        <dgm:presLayoutVars>
          <dgm:chMax val="0"/>
          <dgm:bulletEnabled val="1"/>
        </dgm:presLayoutVars>
      </dgm:prSet>
      <dgm:spPr/>
    </dgm:pt>
    <dgm:pt modelId="{53FEE364-0B2F-4508-88D8-EFB43A9F4375}" type="pres">
      <dgm:prSet presAssocID="{37AFDF95-0000-41AC-A945-1B9242F82F94}" presName="childText" presStyleLbl="revTx" presStyleIdx="0" presStyleCnt="1" custLinFactNeighborY="-31686">
        <dgm:presLayoutVars>
          <dgm:bulletEnabled val="1"/>
        </dgm:presLayoutVars>
      </dgm:prSet>
      <dgm:spPr/>
    </dgm:pt>
  </dgm:ptLst>
  <dgm:cxnLst>
    <dgm:cxn modelId="{ACFF5005-BDC7-4A00-92F8-C4A6D8E52FDD}" type="presOf" srcId="{A1F2B2BD-1DA8-4470-8862-F175FF36A493}" destId="{53FEE364-0B2F-4508-88D8-EFB43A9F4375}" srcOrd="0" destOrd="0" presId="urn:microsoft.com/office/officeart/2005/8/layout/vList2"/>
    <dgm:cxn modelId="{637BFB14-64D1-43DE-A4E2-1051D4723F0A}" type="presOf" srcId="{E4F5877C-8B8A-422F-AF97-960E07C6CF2A}" destId="{A730951F-D805-486D-B5E2-B430AB18A637}" srcOrd="0" destOrd="0" presId="urn:microsoft.com/office/officeart/2005/8/layout/vList2"/>
    <dgm:cxn modelId="{CF901E2B-E325-4691-B648-5907601A85AE}" srcId="{E4F5877C-8B8A-422F-AF97-960E07C6CF2A}" destId="{37AFDF95-0000-41AC-A945-1B9242F82F94}" srcOrd="0" destOrd="0" parTransId="{E69A574B-A66B-4E68-A5CA-E77481B2BF05}" sibTransId="{735C70BD-40E1-4C48-9E88-056B73724D1E}"/>
    <dgm:cxn modelId="{78BC3C39-10DA-4AE9-8B9C-51B21B237C87}" type="presOf" srcId="{37AFDF95-0000-41AC-A945-1B9242F82F94}" destId="{FCB38541-E328-464D-A56F-9561E729A47D}" srcOrd="0" destOrd="0" presId="urn:microsoft.com/office/officeart/2005/8/layout/vList2"/>
    <dgm:cxn modelId="{EF62D03D-1A08-45BE-9A37-FCB04D3BE19C}" srcId="{37AFDF95-0000-41AC-A945-1B9242F82F94}" destId="{F17CA17B-D3BD-4D65-9D0C-409FBC8A655D}" srcOrd="1" destOrd="0" parTransId="{A447BBA5-5C19-416E-9463-324A8D155C3B}" sibTransId="{EB328407-E822-47C5-AED9-E7BECC0F233C}"/>
    <dgm:cxn modelId="{ABF763A3-4074-4155-B3CB-60DA43BD3196}" type="presOf" srcId="{F17CA17B-D3BD-4D65-9D0C-409FBC8A655D}" destId="{53FEE364-0B2F-4508-88D8-EFB43A9F4375}" srcOrd="0" destOrd="1" presId="urn:microsoft.com/office/officeart/2005/8/layout/vList2"/>
    <dgm:cxn modelId="{40CFF0E2-A29C-4B27-BF46-A66978648D5B}" srcId="{37AFDF95-0000-41AC-A945-1B9242F82F94}" destId="{A1F2B2BD-1DA8-4470-8862-F175FF36A493}" srcOrd="0" destOrd="0" parTransId="{3F527FFC-335A-472E-89B1-4E4D1BD75BF4}" sibTransId="{86485787-E9FD-4679-B815-9EA371FC0B30}"/>
    <dgm:cxn modelId="{B235B569-4876-40EF-A3AF-9D372C5458E6}" type="presParOf" srcId="{A730951F-D805-486D-B5E2-B430AB18A637}" destId="{FCB38541-E328-464D-A56F-9561E729A47D}" srcOrd="0" destOrd="0" presId="urn:microsoft.com/office/officeart/2005/8/layout/vList2"/>
    <dgm:cxn modelId="{7DE70AFF-01CC-42E0-9655-D77C75E04ED0}" type="presParOf" srcId="{A730951F-D805-486D-B5E2-B430AB18A637}" destId="{53FEE364-0B2F-4508-88D8-EFB43A9F4375}"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4F5877C-8B8A-422F-AF97-960E07C6CF2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7AFDF95-0000-41AC-A945-1B9242F82F94}">
      <dgm:prSet custT="1"/>
      <dgm:spPr/>
      <dgm:t>
        <a:bodyPr/>
        <a:lstStyle/>
        <a:p>
          <a:r>
            <a:rPr lang="en-US" sz="2800" dirty="0"/>
            <a:t>Limitations</a:t>
          </a:r>
        </a:p>
      </dgm:t>
    </dgm:pt>
    <dgm:pt modelId="{E69A574B-A66B-4E68-A5CA-E77481B2BF05}" type="parTrans" cxnId="{CF901E2B-E325-4691-B648-5907601A85AE}">
      <dgm:prSet/>
      <dgm:spPr/>
      <dgm:t>
        <a:bodyPr/>
        <a:lstStyle/>
        <a:p>
          <a:endParaRPr lang="en-US"/>
        </a:p>
      </dgm:t>
    </dgm:pt>
    <dgm:pt modelId="{735C70BD-40E1-4C48-9E88-056B73724D1E}" type="sibTrans" cxnId="{CF901E2B-E325-4691-B648-5907601A85AE}">
      <dgm:prSet/>
      <dgm:spPr/>
      <dgm:t>
        <a:bodyPr/>
        <a:lstStyle/>
        <a:p>
          <a:endParaRPr lang="en-US"/>
        </a:p>
      </dgm:t>
    </dgm:pt>
    <dgm:pt modelId="{A1F2B2BD-1DA8-4470-8862-F175FF36A493}">
      <dgm:prSet custT="1"/>
      <dgm:spPr/>
      <dgm:t>
        <a:bodyPr/>
        <a:lstStyle/>
        <a:p>
          <a:r>
            <a:rPr lang="en-US" sz="2000" b="0" i="0" dirty="0" err="1">
              <a:solidFill>
                <a:schemeClr val="bg1"/>
              </a:solidFill>
            </a:rPr>
            <a:t>WeMix</a:t>
          </a:r>
          <a:r>
            <a:rPr lang="en-US" sz="2000" b="0" i="0" dirty="0">
              <a:solidFill>
                <a:schemeClr val="bg1"/>
              </a:solidFill>
            </a:rPr>
            <a:t> models - still </a:t>
          </a:r>
          <a:r>
            <a:rPr lang="en-US" sz="2000" b="0" i="0" dirty="0">
              <a:solidFill>
                <a:srgbClr val="FF0000"/>
              </a:solidFill>
            </a:rPr>
            <a:t>not fully design correct SEs</a:t>
          </a:r>
          <a:endParaRPr lang="en-US" sz="2000" dirty="0">
            <a:solidFill>
              <a:srgbClr val="FF0000"/>
            </a:solidFill>
          </a:endParaRPr>
        </a:p>
      </dgm:t>
    </dgm:pt>
    <dgm:pt modelId="{3F527FFC-335A-472E-89B1-4E4D1BD75BF4}" type="parTrans" cxnId="{40CFF0E2-A29C-4B27-BF46-A66978648D5B}">
      <dgm:prSet/>
      <dgm:spPr/>
      <dgm:t>
        <a:bodyPr/>
        <a:lstStyle/>
        <a:p>
          <a:endParaRPr lang="en-US"/>
        </a:p>
      </dgm:t>
    </dgm:pt>
    <dgm:pt modelId="{86485787-E9FD-4679-B815-9EA371FC0B30}" type="sibTrans" cxnId="{40CFF0E2-A29C-4B27-BF46-A66978648D5B}">
      <dgm:prSet/>
      <dgm:spPr/>
      <dgm:t>
        <a:bodyPr/>
        <a:lstStyle/>
        <a:p>
          <a:endParaRPr lang="en-US"/>
        </a:p>
      </dgm:t>
    </dgm:pt>
    <dgm:pt modelId="{AA712CE8-BCAE-46F0-B5E6-9788EBE17520}">
      <dgm:prSet custT="1"/>
      <dgm:spPr/>
      <dgm:t>
        <a:bodyPr/>
        <a:lstStyle/>
        <a:p>
          <a:r>
            <a:rPr lang="en-US" sz="2000" b="0" i="0" dirty="0">
              <a:solidFill>
                <a:schemeClr val="bg1"/>
              </a:solidFill>
            </a:rPr>
            <a:t>Unobserved </a:t>
          </a:r>
          <a:r>
            <a:rPr lang="en-US" sz="2000" b="0" i="0" dirty="0">
              <a:solidFill>
                <a:srgbClr val="FF0000"/>
              </a:solidFill>
            </a:rPr>
            <a:t>confounders</a:t>
          </a:r>
          <a:r>
            <a:rPr lang="en-US" sz="2000" b="0" i="0" dirty="0">
              <a:solidFill>
                <a:schemeClr val="bg1"/>
              </a:solidFill>
            </a:rPr>
            <a:t> remain - could </a:t>
          </a:r>
          <a:r>
            <a:rPr lang="en-US" sz="2000" b="0" i="0" dirty="0">
              <a:solidFill>
                <a:srgbClr val="FF0000"/>
              </a:solidFill>
            </a:rPr>
            <a:t>bias</a:t>
          </a:r>
          <a:r>
            <a:rPr lang="en-US" sz="2000" b="0" i="0" dirty="0">
              <a:solidFill>
                <a:schemeClr val="bg1"/>
              </a:solidFill>
            </a:rPr>
            <a:t> our estimates.</a:t>
          </a:r>
          <a:endParaRPr lang="en-US" sz="2000" dirty="0">
            <a:solidFill>
              <a:schemeClr val="bg1"/>
            </a:solidFill>
          </a:endParaRPr>
        </a:p>
      </dgm:t>
    </dgm:pt>
    <dgm:pt modelId="{4EA95DE4-3537-4055-BD33-396F34D2CFBD}" type="parTrans" cxnId="{85B2BEE6-B55D-4EFB-95B7-6E7765CE605A}">
      <dgm:prSet/>
      <dgm:spPr/>
      <dgm:t>
        <a:bodyPr/>
        <a:lstStyle/>
        <a:p>
          <a:endParaRPr lang="en-US"/>
        </a:p>
      </dgm:t>
    </dgm:pt>
    <dgm:pt modelId="{ECE43B01-0369-4941-8FFF-23C33C3FC73B}" type="sibTrans" cxnId="{85B2BEE6-B55D-4EFB-95B7-6E7765CE605A}">
      <dgm:prSet/>
      <dgm:spPr/>
      <dgm:t>
        <a:bodyPr/>
        <a:lstStyle/>
        <a:p>
          <a:endParaRPr lang="en-US"/>
        </a:p>
      </dgm:t>
    </dgm:pt>
    <dgm:pt modelId="{4C89110B-4EDA-40A4-8838-128F7971B730}">
      <dgm:prSet custT="1"/>
      <dgm:spPr/>
      <dgm:t>
        <a:bodyPr/>
        <a:lstStyle/>
        <a:p>
          <a:r>
            <a:rPr lang="en-US" sz="2000" b="0" i="0" dirty="0">
              <a:solidFill>
                <a:schemeClr val="bg1"/>
              </a:solidFill>
            </a:rPr>
            <a:t>Couldn’t fit random slopes for employment type due to </a:t>
          </a:r>
          <a:r>
            <a:rPr lang="en-US" sz="2000" b="0" i="0" dirty="0">
              <a:solidFill>
                <a:srgbClr val="FF0000"/>
              </a:solidFill>
            </a:rPr>
            <a:t>computational limits</a:t>
          </a:r>
          <a:endParaRPr lang="en-US" sz="2000" dirty="0">
            <a:solidFill>
              <a:srgbClr val="00B050"/>
            </a:solidFill>
          </a:endParaRPr>
        </a:p>
      </dgm:t>
    </dgm:pt>
    <dgm:pt modelId="{0912CE3A-A23B-46C8-8731-9AD736DD7D0B}" type="parTrans" cxnId="{1AD9A36F-337C-4737-A13B-0C930C0E7FA6}">
      <dgm:prSet/>
      <dgm:spPr/>
      <dgm:t>
        <a:bodyPr/>
        <a:lstStyle/>
        <a:p>
          <a:endParaRPr lang="en-US"/>
        </a:p>
      </dgm:t>
    </dgm:pt>
    <dgm:pt modelId="{15583BB0-FB38-4C05-B32D-E5EFFA593ED0}" type="sibTrans" cxnId="{1AD9A36F-337C-4737-A13B-0C930C0E7FA6}">
      <dgm:prSet/>
      <dgm:spPr/>
      <dgm:t>
        <a:bodyPr/>
        <a:lstStyle/>
        <a:p>
          <a:endParaRPr lang="en-US"/>
        </a:p>
      </dgm:t>
    </dgm:pt>
    <dgm:pt modelId="{A730951F-D805-486D-B5E2-B430AB18A637}" type="pres">
      <dgm:prSet presAssocID="{E4F5877C-8B8A-422F-AF97-960E07C6CF2A}" presName="linear" presStyleCnt="0">
        <dgm:presLayoutVars>
          <dgm:animLvl val="lvl"/>
          <dgm:resizeHandles val="exact"/>
        </dgm:presLayoutVars>
      </dgm:prSet>
      <dgm:spPr/>
    </dgm:pt>
    <dgm:pt modelId="{FCB38541-E328-464D-A56F-9561E729A47D}" type="pres">
      <dgm:prSet presAssocID="{37AFDF95-0000-41AC-A945-1B9242F82F94}" presName="parentText" presStyleLbl="node1" presStyleIdx="0" presStyleCnt="1" custScaleY="62681" custLinFactNeighborY="-93124">
        <dgm:presLayoutVars>
          <dgm:chMax val="0"/>
          <dgm:bulletEnabled val="1"/>
        </dgm:presLayoutVars>
      </dgm:prSet>
      <dgm:spPr/>
    </dgm:pt>
    <dgm:pt modelId="{53FEE364-0B2F-4508-88D8-EFB43A9F4375}" type="pres">
      <dgm:prSet presAssocID="{37AFDF95-0000-41AC-A945-1B9242F82F94}" presName="childText" presStyleLbl="revTx" presStyleIdx="0" presStyleCnt="1" custLinFactNeighborY="-22163">
        <dgm:presLayoutVars>
          <dgm:bulletEnabled val="1"/>
        </dgm:presLayoutVars>
      </dgm:prSet>
      <dgm:spPr/>
    </dgm:pt>
  </dgm:ptLst>
  <dgm:cxnLst>
    <dgm:cxn modelId="{ACFF5005-BDC7-4A00-92F8-C4A6D8E52FDD}" type="presOf" srcId="{A1F2B2BD-1DA8-4470-8862-F175FF36A493}" destId="{53FEE364-0B2F-4508-88D8-EFB43A9F4375}" srcOrd="0" destOrd="1" presId="urn:microsoft.com/office/officeart/2005/8/layout/vList2"/>
    <dgm:cxn modelId="{637BFB14-64D1-43DE-A4E2-1051D4723F0A}" type="presOf" srcId="{E4F5877C-8B8A-422F-AF97-960E07C6CF2A}" destId="{A730951F-D805-486D-B5E2-B430AB18A637}" srcOrd="0" destOrd="0" presId="urn:microsoft.com/office/officeart/2005/8/layout/vList2"/>
    <dgm:cxn modelId="{CF901E2B-E325-4691-B648-5907601A85AE}" srcId="{E4F5877C-8B8A-422F-AF97-960E07C6CF2A}" destId="{37AFDF95-0000-41AC-A945-1B9242F82F94}" srcOrd="0" destOrd="0" parTransId="{E69A574B-A66B-4E68-A5CA-E77481B2BF05}" sibTransId="{735C70BD-40E1-4C48-9E88-056B73724D1E}"/>
    <dgm:cxn modelId="{78BC3C39-10DA-4AE9-8B9C-51B21B237C87}" type="presOf" srcId="{37AFDF95-0000-41AC-A945-1B9242F82F94}" destId="{FCB38541-E328-464D-A56F-9561E729A47D}" srcOrd="0" destOrd="0" presId="urn:microsoft.com/office/officeart/2005/8/layout/vList2"/>
    <dgm:cxn modelId="{69185D3A-620F-4118-99F0-9C829BE29DE1}" type="presOf" srcId="{4C89110B-4EDA-40A4-8838-128F7971B730}" destId="{53FEE364-0B2F-4508-88D8-EFB43A9F4375}" srcOrd="0" destOrd="0" presId="urn:microsoft.com/office/officeart/2005/8/layout/vList2"/>
    <dgm:cxn modelId="{1AD9A36F-337C-4737-A13B-0C930C0E7FA6}" srcId="{37AFDF95-0000-41AC-A945-1B9242F82F94}" destId="{4C89110B-4EDA-40A4-8838-128F7971B730}" srcOrd="0" destOrd="0" parTransId="{0912CE3A-A23B-46C8-8731-9AD736DD7D0B}" sibTransId="{15583BB0-FB38-4C05-B32D-E5EFFA593ED0}"/>
    <dgm:cxn modelId="{947A3DDF-DDD3-4AB4-81E8-2241628FE531}" type="presOf" srcId="{AA712CE8-BCAE-46F0-B5E6-9788EBE17520}" destId="{53FEE364-0B2F-4508-88D8-EFB43A9F4375}" srcOrd="0" destOrd="2" presId="urn:microsoft.com/office/officeart/2005/8/layout/vList2"/>
    <dgm:cxn modelId="{40CFF0E2-A29C-4B27-BF46-A66978648D5B}" srcId="{37AFDF95-0000-41AC-A945-1B9242F82F94}" destId="{A1F2B2BD-1DA8-4470-8862-F175FF36A493}" srcOrd="1" destOrd="0" parTransId="{3F527FFC-335A-472E-89B1-4E4D1BD75BF4}" sibTransId="{86485787-E9FD-4679-B815-9EA371FC0B30}"/>
    <dgm:cxn modelId="{85B2BEE6-B55D-4EFB-95B7-6E7765CE605A}" srcId="{37AFDF95-0000-41AC-A945-1B9242F82F94}" destId="{AA712CE8-BCAE-46F0-B5E6-9788EBE17520}" srcOrd="2" destOrd="0" parTransId="{4EA95DE4-3537-4055-BD33-396F34D2CFBD}" sibTransId="{ECE43B01-0369-4941-8FFF-23C33C3FC73B}"/>
    <dgm:cxn modelId="{B235B569-4876-40EF-A3AF-9D372C5458E6}" type="presParOf" srcId="{A730951F-D805-486D-B5E2-B430AB18A637}" destId="{FCB38541-E328-464D-A56F-9561E729A47D}" srcOrd="0" destOrd="0" presId="urn:microsoft.com/office/officeart/2005/8/layout/vList2"/>
    <dgm:cxn modelId="{7DE70AFF-01CC-42E0-9655-D77C75E04ED0}" type="presParOf" srcId="{A730951F-D805-486D-B5E2-B430AB18A637}" destId="{53FEE364-0B2F-4508-88D8-EFB43A9F4375}"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765E09-F43A-421E-83F9-8B20269922F5}">
      <dsp:nvSpPr>
        <dsp:cNvPr id="0" name=""/>
        <dsp:cNvSpPr/>
      </dsp:nvSpPr>
      <dsp:spPr>
        <a:xfrm>
          <a:off x="952" y="454541"/>
          <a:ext cx="2031206" cy="1218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Self-Employment</a:t>
          </a:r>
        </a:p>
      </dsp:txBody>
      <dsp:txXfrm>
        <a:off x="36647" y="490236"/>
        <a:ext cx="1959816" cy="1147333"/>
      </dsp:txXfrm>
    </dsp:sp>
    <dsp:sp modelId="{01C31C94-4173-4923-98C0-609D6E18B8AD}">
      <dsp:nvSpPr>
        <dsp:cNvPr id="0" name=""/>
        <dsp:cNvSpPr/>
      </dsp:nvSpPr>
      <dsp:spPr>
        <a:xfrm>
          <a:off x="2283404" y="812527"/>
          <a:ext cx="430615" cy="5037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2283404" y="913275"/>
        <a:ext cx="301431" cy="302243"/>
      </dsp:txXfrm>
    </dsp:sp>
    <dsp:sp modelId="{82CF0272-5BC3-46E7-89BA-A10F61083DC1}">
      <dsp:nvSpPr>
        <dsp:cNvPr id="0" name=""/>
        <dsp:cNvSpPr/>
      </dsp:nvSpPr>
      <dsp:spPr>
        <a:xfrm>
          <a:off x="2844641" y="454541"/>
          <a:ext cx="2031206" cy="121872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Income Benefit</a:t>
          </a:r>
        </a:p>
      </dsp:txBody>
      <dsp:txXfrm>
        <a:off x="2880336" y="490236"/>
        <a:ext cx="1959816" cy="11473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2AA15-C84B-4F0D-8F90-A900C1AD5345}">
      <dsp:nvSpPr>
        <dsp:cNvPr id="0" name=""/>
        <dsp:cNvSpPr/>
      </dsp:nvSpPr>
      <dsp:spPr>
        <a:xfrm>
          <a:off x="0" y="0"/>
          <a:ext cx="5372100" cy="4786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dirty="0"/>
            <a:t>Imputation</a:t>
          </a:r>
          <a:endParaRPr lang="en-US" sz="2600" kern="1200" dirty="0"/>
        </a:p>
      </dsp:txBody>
      <dsp:txXfrm>
        <a:off x="23364" y="23364"/>
        <a:ext cx="5325372" cy="431892"/>
      </dsp:txXfrm>
    </dsp:sp>
    <dsp:sp modelId="{4AC32BF1-7433-4AA1-A570-3B1A4C3EF3B0}">
      <dsp:nvSpPr>
        <dsp:cNvPr id="0" name=""/>
        <dsp:cNvSpPr/>
      </dsp:nvSpPr>
      <dsp:spPr>
        <a:xfrm>
          <a:off x="0" y="488140"/>
          <a:ext cx="5372100" cy="1847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56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solidFill>
                <a:schemeClr val="bg1"/>
              </a:solidFill>
            </a:rPr>
            <a:t>Age interpolated when ≥2 records using Year</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AFQT &amp; education carried forward/backward, fill max grade</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Employment status LOCF (Last Observation Carried Forward)</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Filter complete cases → final </a:t>
          </a:r>
          <a:r>
            <a:rPr lang="en-US" sz="1800" b="0" i="0" kern="1200" dirty="0">
              <a:solidFill>
                <a:srgbClr val="00B050"/>
              </a:solidFill>
            </a:rPr>
            <a:t>N ≈ 247,000 </a:t>
          </a:r>
          <a:r>
            <a:rPr lang="en-US" sz="1800" b="0" i="0" kern="1200" dirty="0" err="1">
              <a:solidFill>
                <a:srgbClr val="00B050"/>
              </a:solidFill>
            </a:rPr>
            <a:t>obs</a:t>
          </a:r>
          <a:r>
            <a:rPr lang="en-US" sz="1800" b="0" i="0" kern="1200" dirty="0">
              <a:solidFill>
                <a:srgbClr val="00B050"/>
              </a:solidFill>
            </a:rPr>
            <a:t>, 17,492 IDs</a:t>
          </a:r>
          <a:endParaRPr lang="en-US" sz="1800" kern="1200" dirty="0">
            <a:solidFill>
              <a:srgbClr val="00B050"/>
            </a:solidFill>
          </a:endParaRPr>
        </a:p>
      </dsp:txBody>
      <dsp:txXfrm>
        <a:off x="0" y="488140"/>
        <a:ext cx="5372100" cy="18474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68F367-5569-4775-A628-16A4B256BF72}">
      <dsp:nvSpPr>
        <dsp:cNvPr id="0" name=""/>
        <dsp:cNvSpPr/>
      </dsp:nvSpPr>
      <dsp:spPr>
        <a:xfrm>
          <a:off x="0" y="0"/>
          <a:ext cx="5372100" cy="49665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0" i="0" kern="1200" dirty="0"/>
            <a:t>Feature Engineering</a:t>
          </a:r>
          <a:endParaRPr lang="en-US" sz="2600" kern="1200" dirty="0"/>
        </a:p>
      </dsp:txBody>
      <dsp:txXfrm>
        <a:off x="24245" y="24245"/>
        <a:ext cx="5323610" cy="448165"/>
      </dsp:txXfrm>
    </dsp:sp>
    <dsp:sp modelId="{37AC9B3E-A3E7-45A5-A182-516C9C88157E}">
      <dsp:nvSpPr>
        <dsp:cNvPr id="0" name=""/>
        <dsp:cNvSpPr/>
      </dsp:nvSpPr>
      <dsp:spPr>
        <a:xfrm>
          <a:off x="0" y="501280"/>
          <a:ext cx="5372100" cy="1704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564"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solidFill>
                <a:schemeClr val="bg1"/>
              </a:solidFill>
            </a:rPr>
            <a:t>Age Centered</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AFQT &amp; education scores standardized</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Hours worked ÷ 100</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Log-transformed income</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b="0" i="0" kern="1200" dirty="0">
              <a:solidFill>
                <a:schemeClr val="bg1"/>
              </a:solidFill>
            </a:rPr>
            <a:t>Survey weights scaled</a:t>
          </a:r>
          <a:endParaRPr lang="en-US" sz="1800" kern="1200" dirty="0">
            <a:solidFill>
              <a:schemeClr val="bg1"/>
            </a:solidFill>
          </a:endParaRPr>
        </a:p>
        <a:p>
          <a:pPr marL="171450" lvl="1" indent="-171450" algn="l" defTabSz="800100">
            <a:lnSpc>
              <a:spcPct val="90000"/>
            </a:lnSpc>
            <a:spcBef>
              <a:spcPct val="0"/>
            </a:spcBef>
            <a:spcAft>
              <a:spcPct val="20000"/>
            </a:spcAft>
            <a:buChar char="•"/>
          </a:pPr>
          <a:r>
            <a:rPr lang="en-US" sz="1800" kern="1200" dirty="0">
              <a:solidFill>
                <a:schemeClr val="bg1"/>
              </a:solidFill>
            </a:rPr>
            <a:t>Introduced cohort as an additional predictor</a:t>
          </a:r>
        </a:p>
      </dsp:txBody>
      <dsp:txXfrm>
        <a:off x="0" y="501280"/>
        <a:ext cx="5372100" cy="17046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2C854-BE3A-440A-AB8A-533B057799BE}">
      <dsp:nvSpPr>
        <dsp:cNvPr id="0" name=""/>
        <dsp:cNvSpPr/>
      </dsp:nvSpPr>
      <dsp:spPr>
        <a:xfrm>
          <a:off x="3444" y="58173"/>
          <a:ext cx="3717264" cy="1169631"/>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t>Clear variation in each person’s income-age slope</a:t>
          </a:r>
        </a:p>
      </dsp:txBody>
      <dsp:txXfrm>
        <a:off x="588260" y="58173"/>
        <a:ext cx="2547633" cy="1169631"/>
      </dsp:txXfrm>
    </dsp:sp>
    <dsp:sp modelId="{A55D9BFD-ADBF-4C92-90F3-5C85BA70D1B2}">
      <dsp:nvSpPr>
        <dsp:cNvPr id="0" name=""/>
        <dsp:cNvSpPr/>
      </dsp:nvSpPr>
      <dsp:spPr>
        <a:xfrm>
          <a:off x="3340578" y="157591"/>
          <a:ext cx="3111419" cy="970794"/>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t> include a random slope on age</a:t>
          </a:r>
        </a:p>
      </dsp:txBody>
      <dsp:txXfrm>
        <a:off x="3825975" y="157591"/>
        <a:ext cx="2140625" cy="970794"/>
      </dsp:txXfrm>
    </dsp:sp>
    <dsp:sp modelId="{510C01E4-7D87-4A6D-B00A-89E6F744BA09}">
      <dsp:nvSpPr>
        <dsp:cNvPr id="0" name=""/>
        <dsp:cNvSpPr/>
      </dsp:nvSpPr>
      <dsp:spPr>
        <a:xfrm>
          <a:off x="3444" y="1391553"/>
          <a:ext cx="3661502" cy="1169631"/>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t>Uneven “jump” when switching to self-employment across individuals</a:t>
          </a:r>
        </a:p>
      </dsp:txBody>
      <dsp:txXfrm>
        <a:off x="588260" y="1391553"/>
        <a:ext cx="2491871" cy="1169631"/>
      </dsp:txXfrm>
    </dsp:sp>
    <dsp:sp modelId="{E3283CC3-1431-47A7-8799-D14891C87B1E}">
      <dsp:nvSpPr>
        <dsp:cNvPr id="0" name=""/>
        <dsp:cNvSpPr/>
      </dsp:nvSpPr>
      <dsp:spPr>
        <a:xfrm>
          <a:off x="3284816" y="1490971"/>
          <a:ext cx="3249418" cy="970794"/>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t>Attempted a random slope on employment status</a:t>
          </a:r>
        </a:p>
      </dsp:txBody>
      <dsp:txXfrm>
        <a:off x="3770213" y="1490971"/>
        <a:ext cx="2278624" cy="97079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5E0AD6-D602-4414-B1BE-29F9D080D4D3}">
      <dsp:nvSpPr>
        <dsp:cNvPr id="0" name=""/>
        <dsp:cNvSpPr/>
      </dsp:nvSpPr>
      <dsp:spPr>
        <a:xfrm>
          <a:off x="1464" y="1199801"/>
          <a:ext cx="2939332" cy="1175733"/>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10160" rIns="0" bIns="10160" numCol="1" spcCol="1270" anchor="ctr" anchorCtr="0">
          <a:noAutofit/>
        </a:bodyPr>
        <a:lstStyle/>
        <a:p>
          <a:pPr marL="0" lvl="0" indent="0" algn="ctr" defTabSz="711200">
            <a:lnSpc>
              <a:spcPct val="90000"/>
            </a:lnSpc>
            <a:spcBef>
              <a:spcPct val="0"/>
            </a:spcBef>
            <a:spcAft>
              <a:spcPct val="35000"/>
            </a:spcAft>
            <a:buNone/>
          </a:pPr>
          <a:r>
            <a:rPr lang="en-US" sz="1600" b="0" i="0" kern="1200" dirty="0"/>
            <a:t>Self‑employed and salaried lines diverge after ~35  </a:t>
          </a:r>
          <a:endParaRPr lang="en-US" sz="1600" kern="1200" dirty="0"/>
        </a:p>
      </dsp:txBody>
      <dsp:txXfrm>
        <a:off x="589331" y="1199801"/>
        <a:ext cx="1763599" cy="1175733"/>
      </dsp:txXfrm>
    </dsp:sp>
    <dsp:sp modelId="{F7DF215B-52CC-4244-8B0C-8DD0AB5597A4}">
      <dsp:nvSpPr>
        <dsp:cNvPr id="0" name=""/>
        <dsp:cNvSpPr/>
      </dsp:nvSpPr>
      <dsp:spPr>
        <a:xfrm>
          <a:off x="2558684" y="1299738"/>
          <a:ext cx="2439646" cy="975858"/>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8890" rIns="0" bIns="8890" numCol="1" spcCol="1270" anchor="ctr" anchorCtr="0">
          <a:noAutofit/>
        </a:bodyPr>
        <a:lstStyle/>
        <a:p>
          <a:pPr marL="0" lvl="0" indent="0" algn="ctr" defTabSz="622300">
            <a:lnSpc>
              <a:spcPct val="90000"/>
            </a:lnSpc>
            <a:spcBef>
              <a:spcPct val="0"/>
            </a:spcBef>
            <a:spcAft>
              <a:spcPct val="35000"/>
            </a:spcAft>
            <a:buNone/>
          </a:pPr>
          <a:r>
            <a:rPr lang="en-US" sz="1400" b="0" i="0" kern="1200"/>
            <a:t>add a fixed age × employment interaction.</a:t>
          </a:r>
          <a:endParaRPr lang="en-US" sz="1400" kern="1200"/>
        </a:p>
      </dsp:txBody>
      <dsp:txXfrm>
        <a:off x="3046613" y="1299738"/>
        <a:ext cx="1463788" cy="97585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38541-E328-464D-A56F-9561E729A47D}">
      <dsp:nvSpPr>
        <dsp:cNvPr id="0" name=""/>
        <dsp:cNvSpPr/>
      </dsp:nvSpPr>
      <dsp:spPr>
        <a:xfrm>
          <a:off x="0" y="19053"/>
          <a:ext cx="5746750" cy="7711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Conclusion</a:t>
          </a:r>
          <a:endParaRPr lang="en-US" sz="6500" kern="1200" dirty="0"/>
        </a:p>
      </dsp:txBody>
      <dsp:txXfrm>
        <a:off x="37642" y="56695"/>
        <a:ext cx="5671466" cy="695826"/>
      </dsp:txXfrm>
    </dsp:sp>
    <dsp:sp modelId="{53FEE364-0B2F-4508-88D8-EFB43A9F4375}">
      <dsp:nvSpPr>
        <dsp:cNvPr id="0" name=""/>
        <dsp:cNvSpPr/>
      </dsp:nvSpPr>
      <dsp:spPr>
        <a:xfrm>
          <a:off x="0" y="1210078"/>
          <a:ext cx="5746750"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45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solidFill>
                <a:schemeClr val="bg1"/>
              </a:solidFill>
            </a:rPr>
            <a:t>“Self-employment yields a growing earnings premium - </a:t>
          </a:r>
          <a:r>
            <a:rPr lang="en-US" sz="2000" b="0" i="0" kern="1200" dirty="0">
              <a:solidFill>
                <a:srgbClr val="00B050"/>
              </a:solidFill>
            </a:rPr>
            <a:t>~57 % higher at mean age, widening over time</a:t>
          </a:r>
          <a:r>
            <a:rPr lang="en-US" sz="2000" b="0" i="0" kern="1200" dirty="0">
              <a:solidFill>
                <a:schemeClr val="bg1"/>
              </a:solidFill>
            </a:rPr>
            <a:t>.”</a:t>
          </a:r>
          <a:endParaRPr lang="en-US" sz="2000" kern="1200" dirty="0">
            <a:solidFill>
              <a:schemeClr val="bg1"/>
            </a:solidFill>
          </a:endParaRPr>
        </a:p>
        <a:p>
          <a:pPr marL="228600" lvl="1" indent="-228600" algn="l" defTabSz="889000">
            <a:lnSpc>
              <a:spcPct val="90000"/>
            </a:lnSpc>
            <a:spcBef>
              <a:spcPct val="0"/>
            </a:spcBef>
            <a:spcAft>
              <a:spcPct val="20000"/>
            </a:spcAft>
            <a:buChar char="•"/>
          </a:pPr>
          <a:r>
            <a:rPr lang="en-US" sz="2000" b="0" i="0" kern="1200" dirty="0">
              <a:solidFill>
                <a:schemeClr val="bg1"/>
              </a:solidFill>
            </a:rPr>
            <a:t> </a:t>
          </a:r>
          <a:r>
            <a:rPr lang="en-US" sz="2000" b="0" i="0" kern="1200" dirty="0">
              <a:solidFill>
                <a:srgbClr val="FF0000"/>
              </a:solidFill>
            </a:rPr>
            <a:t>Large residual variance remains</a:t>
          </a:r>
          <a:r>
            <a:rPr lang="en-US" sz="2000" b="0" i="0" kern="1200" dirty="0">
              <a:solidFill>
                <a:schemeClr val="bg1"/>
              </a:solidFill>
            </a:rPr>
            <a:t>.”</a:t>
          </a:r>
          <a:endParaRPr lang="en-US" sz="2000" kern="1200" dirty="0">
            <a:solidFill>
              <a:schemeClr val="bg1"/>
            </a:solidFill>
          </a:endParaRPr>
        </a:p>
      </dsp:txBody>
      <dsp:txXfrm>
        <a:off x="0" y="1210078"/>
        <a:ext cx="5746750" cy="11773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38541-E328-464D-A56F-9561E729A47D}">
      <dsp:nvSpPr>
        <dsp:cNvPr id="0" name=""/>
        <dsp:cNvSpPr/>
      </dsp:nvSpPr>
      <dsp:spPr>
        <a:xfrm>
          <a:off x="0" y="0"/>
          <a:ext cx="5746750" cy="7627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Limitations</a:t>
          </a:r>
        </a:p>
      </dsp:txBody>
      <dsp:txXfrm>
        <a:off x="37232" y="37232"/>
        <a:ext cx="5672286" cy="688238"/>
      </dsp:txXfrm>
    </dsp:sp>
    <dsp:sp modelId="{53FEE364-0B2F-4508-88D8-EFB43A9F4375}">
      <dsp:nvSpPr>
        <dsp:cNvPr id="0" name=""/>
        <dsp:cNvSpPr/>
      </dsp:nvSpPr>
      <dsp:spPr>
        <a:xfrm>
          <a:off x="0" y="1170381"/>
          <a:ext cx="5746750" cy="1480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459"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b="0" i="0" kern="1200" dirty="0">
              <a:solidFill>
                <a:schemeClr val="bg1"/>
              </a:solidFill>
            </a:rPr>
            <a:t>Couldn’t fit random slopes for employment type due to </a:t>
          </a:r>
          <a:r>
            <a:rPr lang="en-US" sz="2000" b="0" i="0" kern="1200" dirty="0">
              <a:solidFill>
                <a:srgbClr val="FF0000"/>
              </a:solidFill>
            </a:rPr>
            <a:t>computational limits</a:t>
          </a:r>
          <a:endParaRPr lang="en-US" sz="2000" kern="1200" dirty="0">
            <a:solidFill>
              <a:srgbClr val="00B050"/>
            </a:solidFill>
          </a:endParaRPr>
        </a:p>
        <a:p>
          <a:pPr marL="228600" lvl="1" indent="-228600" algn="l" defTabSz="889000">
            <a:lnSpc>
              <a:spcPct val="90000"/>
            </a:lnSpc>
            <a:spcBef>
              <a:spcPct val="0"/>
            </a:spcBef>
            <a:spcAft>
              <a:spcPct val="20000"/>
            </a:spcAft>
            <a:buChar char="•"/>
          </a:pPr>
          <a:r>
            <a:rPr lang="en-US" sz="2000" b="0" i="0" kern="1200" dirty="0" err="1">
              <a:solidFill>
                <a:schemeClr val="bg1"/>
              </a:solidFill>
            </a:rPr>
            <a:t>WeMix</a:t>
          </a:r>
          <a:r>
            <a:rPr lang="en-US" sz="2000" b="0" i="0" kern="1200" dirty="0">
              <a:solidFill>
                <a:schemeClr val="bg1"/>
              </a:solidFill>
            </a:rPr>
            <a:t> models - still </a:t>
          </a:r>
          <a:r>
            <a:rPr lang="en-US" sz="2000" b="0" i="0" kern="1200" dirty="0">
              <a:solidFill>
                <a:srgbClr val="FF0000"/>
              </a:solidFill>
            </a:rPr>
            <a:t>not fully design correct SEs</a:t>
          </a:r>
          <a:endParaRPr lang="en-US" sz="2000" kern="1200" dirty="0">
            <a:solidFill>
              <a:srgbClr val="FF0000"/>
            </a:solidFill>
          </a:endParaRPr>
        </a:p>
        <a:p>
          <a:pPr marL="228600" lvl="1" indent="-228600" algn="l" defTabSz="889000">
            <a:lnSpc>
              <a:spcPct val="90000"/>
            </a:lnSpc>
            <a:spcBef>
              <a:spcPct val="0"/>
            </a:spcBef>
            <a:spcAft>
              <a:spcPct val="20000"/>
            </a:spcAft>
            <a:buChar char="•"/>
          </a:pPr>
          <a:r>
            <a:rPr lang="en-US" sz="2000" b="0" i="0" kern="1200" dirty="0">
              <a:solidFill>
                <a:schemeClr val="bg1"/>
              </a:solidFill>
            </a:rPr>
            <a:t>Unobserved </a:t>
          </a:r>
          <a:r>
            <a:rPr lang="en-US" sz="2000" b="0" i="0" kern="1200" dirty="0">
              <a:solidFill>
                <a:srgbClr val="FF0000"/>
              </a:solidFill>
            </a:rPr>
            <a:t>confounders</a:t>
          </a:r>
          <a:r>
            <a:rPr lang="en-US" sz="2000" b="0" i="0" kern="1200" dirty="0">
              <a:solidFill>
                <a:schemeClr val="bg1"/>
              </a:solidFill>
            </a:rPr>
            <a:t> remain - could </a:t>
          </a:r>
          <a:r>
            <a:rPr lang="en-US" sz="2000" b="0" i="0" kern="1200" dirty="0">
              <a:solidFill>
                <a:srgbClr val="FF0000"/>
              </a:solidFill>
            </a:rPr>
            <a:t>bias</a:t>
          </a:r>
          <a:r>
            <a:rPr lang="en-US" sz="2000" b="0" i="0" kern="1200" dirty="0">
              <a:solidFill>
                <a:schemeClr val="bg1"/>
              </a:solidFill>
            </a:rPr>
            <a:t> our estimates.</a:t>
          </a:r>
          <a:endParaRPr lang="en-US" sz="2000" kern="1200" dirty="0">
            <a:solidFill>
              <a:schemeClr val="bg1"/>
            </a:solidFill>
          </a:endParaRPr>
        </a:p>
      </dsp:txBody>
      <dsp:txXfrm>
        <a:off x="0" y="1170381"/>
        <a:ext cx="5746750" cy="148004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5/8/2025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5/8/2025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Today I’ll show how income evolves over the life course for wage‑earners versus the self‑employed, using the NLSY panel surveys.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494DC-B05D-F8C5-511E-A9D3A6628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4ACFF-5D98-717B-197B-7A5F276F3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63549-4C61-94C8-1397-833851EE6B67}"/>
              </a:ext>
            </a:extLst>
          </p:cNvPr>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I used the NLSY79 and NLSY97, inflation‑adjusted to 2017</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dollars, oversampling minorities, with roughly 21,670 unique respondents and 300,000 person‑year records.</a:t>
            </a:r>
            <a:endParaRPr lang="en-US" dirty="0"/>
          </a:p>
        </p:txBody>
      </p:sp>
      <p:sp>
        <p:nvSpPr>
          <p:cNvPr id="4" name="Slide Number Placeholder 3">
            <a:extLst>
              <a:ext uri="{FF2B5EF4-FFF2-40B4-BE49-F238E27FC236}">
                <a16:creationId xmlns:a16="http://schemas.microsoft.com/office/drawing/2014/main" id="{0E8CF142-F2CF-C240-73AC-9AD368922A1E}"/>
              </a:ext>
            </a:extLst>
          </p:cNvPr>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483826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t>
            </a:r>
            <a:r>
              <a:rPr lang="en-US" sz="1800" dirty="0">
                <a:effectLst/>
                <a:latin typeface="Aptos" panose="020B0004020202020204" pitchFamily="34" charset="0"/>
                <a:ea typeface="Aptos" panose="020B0004020202020204" pitchFamily="34" charset="0"/>
                <a:cs typeface="Times New Roman" panose="02020603050405020304" pitchFamily="18" charset="0"/>
              </a:rPr>
              <a:t>goal for this project was to estimate the average self‑employment premium in annual income, net of cognitive ability, schooling, work effort, gender, race, and cohort effects.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113416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I cleaned and imputed missing age, AFQT and education, carried forward employment gaps, then centered and standardized predictors, log</a:t>
            </a:r>
            <a:r>
              <a:rPr lang="en-US" sz="1800" dirty="0">
                <a:effectLst/>
                <a:latin typeface="Cambria Math" panose="02040503050406030204" pitchFamily="18" charset="0"/>
                <a:ea typeface="Aptos" panose="020B0004020202020204" pitchFamily="34" charset="0"/>
                <a:cs typeface="Cambria Math" panose="020405030504060302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transformed income, and scaled survey weights</a:t>
            </a:r>
            <a:r>
              <a:rPr lang="en-US" sz="1800" dirty="0">
                <a:effectLst/>
                <a:latin typeface="Aptos" panose="020B0004020202020204" pitchFamily="34" charset="0"/>
                <a:ea typeface="Aptos" panose="020B0004020202020204" pitchFamily="34" charset="0"/>
                <a:cs typeface="Aptos" panose="020B0004020202020204" pitchFamily="34"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ending with ~247</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K observations on ~17,500 individuals</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03B4-E601-A667-C251-A471464F8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1BD83-B914-B98E-4EBA-DA8D57185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69D02-8439-99EC-AE5E-C71BC99D0126}"/>
              </a:ext>
            </a:extLst>
          </p:cNvPr>
          <p:cNvSpPr>
            <a:spLocks noGrp="1"/>
          </p:cNvSpPr>
          <p:nvPr>
            <p:ph type="body" idx="1"/>
          </p:nvPr>
        </p:nvSpPr>
        <p:spPr/>
        <p:txBody>
          <a:bodyPr/>
          <a:lstStyle/>
          <a:p>
            <a:r>
              <a:rPr lang="en-US" dirty="0"/>
              <a:t>On this slide you see 100 randomly selected respondents’ raw income trajectories over age. Notice how each line tilts differently—some people’s earnings accelerate rapidly, others remain flat or even dip. That clear heterogeneity in age‐earnings slopes tells us that a single, fixed age effect would misrepresent many individuals. Accordingly, I included a random slope on age so each person can have their own growth rate. You’ll also see that the magnitude of the jump when switching into self‑employment varies by individual, which motivated my (unsuccessful) attempt to add a random slope on the employment status effect.</a:t>
            </a:r>
          </a:p>
        </p:txBody>
      </p:sp>
      <p:sp>
        <p:nvSpPr>
          <p:cNvPr id="4" name="Slide Number Placeholder 3">
            <a:extLst>
              <a:ext uri="{FF2B5EF4-FFF2-40B4-BE49-F238E27FC236}">
                <a16:creationId xmlns:a16="http://schemas.microsoft.com/office/drawing/2014/main" id="{675CA1A7-479C-6E77-A151-C951A3067B9B}"/>
              </a:ext>
            </a:extLst>
          </p:cNvPr>
          <p:cNvSpPr>
            <a:spLocks noGrp="1"/>
          </p:cNvSpPr>
          <p:nvPr>
            <p:ph type="sldNum" sz="quarter" idx="5"/>
          </p:nvPr>
        </p:nvSpPr>
        <p:spPr/>
        <p:txBody>
          <a:bodyPr/>
          <a:lstStyle/>
          <a:p>
            <a:fld id="{A89C7E07-3C67-C64C-8DA0-0404F6303970}" type="slidenum">
              <a:rPr lang="en-US" smtClean="0"/>
              <a:t>5</a:t>
            </a:fld>
            <a:endParaRPr lang="en-US" dirty="0"/>
          </a:p>
        </p:txBody>
      </p:sp>
    </p:spTree>
    <p:extLst>
      <p:ext uri="{BB962C8B-B14F-4D97-AF65-F5344CB8AC3E}">
        <p14:creationId xmlns:p14="http://schemas.microsoft.com/office/powerpoint/2010/main" val="1061521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639921-CFBB-DE6F-31EB-81B758CA0268}"/>
              </a:ext>
            </a:extLst>
          </p:cNvPr>
          <p:cNvSpPr>
            <a:spLocks noGrp="1"/>
          </p:cNvSpPr>
          <p:nvPr>
            <p:ph type="body" idx="1"/>
          </p:nvPr>
        </p:nvSpPr>
        <p:spPr/>
        <p:txBody>
          <a:bodyPr/>
          <a:lstStyle/>
          <a:p>
            <a:r>
              <a:rPr lang="en-US" sz="2800" dirty="0"/>
              <a:t>Here I plotted the average income trajectory—conditional on positive earnings—for wage‑earners (blue) versus self‑employed (orange). Up until about age 35, the lines rise in parallel, but after that point the self‑employed curve pulls sharply ahead. This systematic divergence with age is exactly what the fixed age × employment interaction term captures in the final model, allowing the self‑employment premium to change as people get older.</a:t>
            </a:r>
            <a:endParaRPr lang="en-US" dirty="0"/>
          </a:p>
        </p:txBody>
      </p:sp>
      <p:sp>
        <p:nvSpPr>
          <p:cNvPr id="4" name="Slide Number Placehold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a:lstStyle/>
          <a:p>
            <a:fld id="{A89C7E07-3C67-C64C-8DA0-0404F6303970}" type="slidenum">
              <a:rPr lang="en-US" smtClean="0"/>
              <a:t>6</a:t>
            </a:fld>
            <a:endParaRPr lang="en-US" dirty="0"/>
          </a:p>
        </p:txBody>
      </p:sp>
    </p:spTree>
    <p:extLst>
      <p:ext uri="{BB962C8B-B14F-4D97-AF65-F5344CB8AC3E}">
        <p14:creationId xmlns:p14="http://schemas.microsoft.com/office/powerpoint/2010/main" val="3727777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25EB9-4AAA-A4E5-A9C7-C24513548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FDF05-6065-9A7E-E96B-036DAD76D3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7C614-6D6F-D98C-0B90-06AC665522EE}"/>
              </a:ext>
            </a:extLst>
          </p:cNvPr>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To test these patterns formally, I fit five nested mixed</a:t>
            </a:r>
            <a:r>
              <a:rPr lang="en-US" sz="1800" dirty="0">
                <a:effectLst/>
                <a:latin typeface="Cambria Math" panose="02040503050406030204" pitchFamily="18" charset="0"/>
                <a:ea typeface="Aptos" panose="020B0004020202020204" pitchFamily="34" charset="0"/>
                <a:cs typeface="Cambria Math" panose="020405030504060302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effects models in the </a:t>
            </a:r>
            <a:r>
              <a:rPr lang="en-US" sz="1800" dirty="0" err="1">
                <a:effectLst/>
                <a:latin typeface="Aptos" panose="020B0004020202020204" pitchFamily="34" charset="0"/>
                <a:ea typeface="Aptos" panose="020B0004020202020204" pitchFamily="34" charset="0"/>
                <a:cs typeface="Times New Roman" panose="02020603050405020304" pitchFamily="18" charset="0"/>
              </a:rPr>
              <a:t>WeMix</a:t>
            </a:r>
            <a:r>
              <a:rPr lang="en-US" sz="1800" dirty="0">
                <a:effectLst/>
                <a:latin typeface="Aptos" panose="020B0004020202020204" pitchFamily="34" charset="0"/>
                <a:ea typeface="Aptos" panose="020B0004020202020204" pitchFamily="34" charset="0"/>
                <a:cs typeface="Times New Roman" panose="02020603050405020304" pitchFamily="18" charset="0"/>
              </a:rPr>
              <a:t> framework (which handles survey weights). I started with age only, then add employment, their interaction, cognitive/education/hours, and finally demographic and cohort controls. </a:t>
            </a:r>
            <a:endParaRPr lang="en-US" dirty="0"/>
          </a:p>
        </p:txBody>
      </p:sp>
      <p:sp>
        <p:nvSpPr>
          <p:cNvPr id="4" name="Slide Number Placeholder 3">
            <a:extLst>
              <a:ext uri="{FF2B5EF4-FFF2-40B4-BE49-F238E27FC236}">
                <a16:creationId xmlns:a16="http://schemas.microsoft.com/office/drawing/2014/main" id="{56A448D6-5725-0C61-98A0-FE8C7493A262}"/>
              </a:ext>
            </a:extLst>
          </p:cNvPr>
          <p:cNvSpPr>
            <a:spLocks noGrp="1"/>
          </p:cNvSpPr>
          <p:nvPr>
            <p:ph type="sldNum" sz="quarter" idx="5"/>
          </p:nvPr>
        </p:nvSpPr>
        <p:spPr/>
        <p:txBody>
          <a:bodyPr/>
          <a:lstStyle/>
          <a:p>
            <a:fld id="{A89C7E07-3C67-C64C-8DA0-0404F6303970}" type="slidenum">
              <a:rPr lang="en-US" smtClean="0"/>
              <a:t>7</a:t>
            </a:fld>
            <a:endParaRPr lang="en-US" dirty="0"/>
          </a:p>
        </p:txBody>
      </p:sp>
    </p:spTree>
    <p:extLst>
      <p:ext uri="{BB962C8B-B14F-4D97-AF65-F5344CB8AC3E}">
        <p14:creationId xmlns:p14="http://schemas.microsoft.com/office/powerpoint/2010/main" val="1730665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4B6DB-5A7E-3024-CB7F-7AD38A1E2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131A20-8415-AD9E-9C3E-4EAD1357E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63E034-B56C-4FB7-76AA-844498CDC389}"/>
              </a:ext>
            </a:extLst>
          </p:cNvPr>
          <p:cNvSpPr>
            <a:spLocks noGrp="1"/>
          </p:cNvSpPr>
          <p:nvPr>
            <p:ph type="body" idx="1"/>
          </p:nvPr>
        </p:nvSpPr>
        <p:spPr/>
        <p:txBody>
          <a:bodyPr/>
          <a:lstStyle/>
          <a:p>
            <a:r>
              <a:rPr lang="en-US" dirty="0"/>
              <a:t>This table </a:t>
            </a:r>
            <a:r>
              <a:rPr lang="en-US" sz="1800" dirty="0">
                <a:effectLst/>
                <a:latin typeface="Aptos" panose="020B0004020202020204" pitchFamily="34" charset="0"/>
                <a:ea typeface="Aptos" panose="020B0004020202020204" pitchFamily="34" charset="0"/>
                <a:cs typeface="Times New Roman" panose="02020603050405020304" pitchFamily="18" charset="0"/>
              </a:rPr>
              <a:t>shows that </a:t>
            </a:r>
            <a:r>
              <a:rPr lang="en-US" sz="1800">
                <a:effectLst/>
                <a:latin typeface="Aptos" panose="020B0004020202020204" pitchFamily="34" charset="0"/>
                <a:ea typeface="Aptos" panose="020B0004020202020204" pitchFamily="34" charset="0"/>
                <a:cs typeface="Times New Roman" panose="02020603050405020304" pitchFamily="18" charset="0"/>
              </a:rPr>
              <a:t>Model</a:t>
            </a:r>
            <a:r>
              <a:rPr lang="en-US" sz="1800">
                <a:effectLst/>
                <a:latin typeface="Arial" panose="020B0604020202020204" pitchFamily="34" charset="0"/>
                <a:ea typeface="Aptos" panose="020B0004020202020204" pitchFamily="34" charset="0"/>
              </a:rPr>
              <a:t> </a:t>
            </a:r>
            <a:r>
              <a:rPr lang="en-US" sz="1800">
                <a:effectLst/>
                <a:latin typeface="Aptos" panose="020B0004020202020204" pitchFamily="34" charset="0"/>
                <a:ea typeface="Aptos" panose="020B0004020202020204" pitchFamily="34" charset="0"/>
                <a:cs typeface="Times New Roman" panose="02020603050405020304" pitchFamily="18" charset="0"/>
              </a:rPr>
              <a:t>5--</a:t>
            </a:r>
            <a:r>
              <a:rPr lang="en-US" sz="1800" dirty="0">
                <a:effectLst/>
                <a:latin typeface="Aptos" panose="020B0004020202020204" pitchFamily="34" charset="0"/>
                <a:ea typeface="Aptos" panose="020B0004020202020204" pitchFamily="34" charset="0"/>
                <a:cs typeface="Times New Roman" panose="02020603050405020304" pitchFamily="18" charset="0"/>
              </a:rPr>
              <a:t>-with all predictors and random slopes for </a:t>
            </a:r>
            <a:r>
              <a:rPr lang="en-US" sz="1800">
                <a:effectLst/>
                <a:latin typeface="Aptos" panose="020B0004020202020204" pitchFamily="34" charset="0"/>
                <a:ea typeface="Aptos" panose="020B0004020202020204" pitchFamily="34" charset="0"/>
                <a:cs typeface="Times New Roman" panose="02020603050405020304" pitchFamily="18" charset="0"/>
              </a:rPr>
              <a:t>age--</a:t>
            </a:r>
            <a:r>
              <a:rPr lang="en-US" sz="1800" dirty="0">
                <a:effectLst/>
                <a:latin typeface="Aptos" panose="020B0004020202020204" pitchFamily="34" charset="0"/>
                <a:ea typeface="Aptos" panose="020B0004020202020204" pitchFamily="34" charset="0"/>
                <a:cs typeface="Times New Roman" panose="02020603050405020304" pitchFamily="18" charset="0"/>
              </a:rPr>
              <a:t>-yields the lowest AIC/BIC and essentially 100</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 Akaike weight. The biggest single gain comes in Model</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4 from adding AFQT, education, hours, and random slopes; the final demographics step adds a modest further improvement.</a:t>
            </a:r>
            <a:endParaRPr lang="en-US" dirty="0"/>
          </a:p>
        </p:txBody>
      </p:sp>
      <p:sp>
        <p:nvSpPr>
          <p:cNvPr id="4" name="Slide Number Placeholder 3">
            <a:extLst>
              <a:ext uri="{FF2B5EF4-FFF2-40B4-BE49-F238E27FC236}">
                <a16:creationId xmlns:a16="http://schemas.microsoft.com/office/drawing/2014/main" id="{6B53FA84-86EB-4EAE-6C9F-823ACDCBCBFE}"/>
              </a:ext>
            </a:extLst>
          </p:cNvPr>
          <p:cNvSpPr>
            <a:spLocks noGrp="1"/>
          </p:cNvSpPr>
          <p:nvPr>
            <p:ph type="sldNum" sz="quarter" idx="5"/>
          </p:nvPr>
        </p:nvSpPr>
        <p:spPr/>
        <p:txBody>
          <a:bodyPr/>
          <a:lstStyle/>
          <a:p>
            <a:fld id="{A89C7E07-3C67-C64C-8DA0-0404F6303970}" type="slidenum">
              <a:rPr lang="en-US" smtClean="0"/>
              <a:t>8</a:t>
            </a:fld>
            <a:endParaRPr lang="en-US" dirty="0"/>
          </a:p>
        </p:txBody>
      </p:sp>
    </p:spTree>
    <p:extLst>
      <p:ext uri="{BB962C8B-B14F-4D97-AF65-F5344CB8AC3E}">
        <p14:creationId xmlns:p14="http://schemas.microsoft.com/office/powerpoint/2010/main" val="3802876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Above figure overlays observed versus fitted log‑income for a random 25 individuals: the model captures overall trends but misses sharp dips/spikes (RMSE</a:t>
            </a:r>
            <a:r>
              <a:rPr lang="en-US" sz="1800" dirty="0">
                <a:effectLst/>
                <a:latin typeface="Aptos" panose="020B0004020202020204" pitchFamily="34" charset="0"/>
                <a:ea typeface="Aptos" panose="020B0004020202020204" pitchFamily="34" charset="0"/>
                <a:cs typeface="Aptos" panose="020B0004020202020204" pitchFamily="34" charset="0"/>
              </a:rPr>
              <a:t> ≈ </a:t>
            </a:r>
            <a:r>
              <a:rPr lang="en-US" sz="1800" dirty="0">
                <a:effectLst/>
                <a:latin typeface="Aptos" panose="020B0004020202020204" pitchFamily="34" charset="0"/>
                <a:ea typeface="Aptos" panose="020B0004020202020204" pitchFamily="34" charset="0"/>
                <a:cs typeface="Times New Roman" panose="02020603050405020304" pitchFamily="18" charset="0"/>
              </a:rPr>
              <a:t>2.96 log‑points, R</a:t>
            </a:r>
            <a:r>
              <a:rPr lang="en-US" sz="1800" dirty="0">
                <a:effectLst/>
                <a:latin typeface="Aptos" panose="020B0004020202020204" pitchFamily="34" charset="0"/>
                <a:ea typeface="Aptos" panose="020B0004020202020204" pitchFamily="34" charset="0"/>
                <a:cs typeface="Aptos" panose="020B0004020202020204" pitchFamily="34" charset="0"/>
              </a:rPr>
              <a:t>² ≈ </a:t>
            </a:r>
            <a:r>
              <a:rPr lang="en-US" sz="1800" dirty="0">
                <a:effectLst/>
                <a:latin typeface="Aptos" panose="020B0004020202020204" pitchFamily="34" charset="0"/>
                <a:ea typeface="Aptos" panose="020B0004020202020204" pitchFamily="34" charset="0"/>
                <a:cs typeface="Times New Roman" panose="02020603050405020304" pitchFamily="18" charset="0"/>
              </a:rPr>
              <a:t>0.65). Above able shows the self‑employment main effect (</a:t>
            </a:r>
            <a:r>
              <a:rPr lang="en-US" sz="1800" dirty="0">
                <a:effectLst/>
                <a:latin typeface="Aptos" panose="020B0004020202020204" pitchFamily="34" charset="0"/>
                <a:ea typeface="Aptos" panose="020B0004020202020204" pitchFamily="34" charset="0"/>
                <a:cs typeface="Aptos" panose="020B0004020202020204" pitchFamily="34" charset="0"/>
              </a:rPr>
              <a:t>β </a:t>
            </a:r>
            <a:r>
              <a:rPr lang="en-US" sz="1800" dirty="0">
                <a:effectLst/>
                <a:latin typeface="Aptos" panose="020B0004020202020204" pitchFamily="34" charset="0"/>
                <a:ea typeface="Aptos" panose="020B0004020202020204" pitchFamily="34" charset="0"/>
                <a:cs typeface="Times New Roman" panose="02020603050405020304" pitchFamily="18" charset="0"/>
              </a:rPr>
              <a:t>=</a:t>
            </a:r>
            <a:r>
              <a:rPr lang="en-US" sz="1800" dirty="0">
                <a:effectLst/>
                <a:latin typeface="Aptos" panose="020B0004020202020204" pitchFamily="34" charset="0"/>
                <a:ea typeface="Aptos" panose="020B0004020202020204" pitchFamily="34" charset="0"/>
                <a:cs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0.451, ~57</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 higher income at mean age) and a positive age</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Aptos" panose="020B0004020202020204" pitchFamily="34" charset="0"/>
              </a:rPr>
              <a:t>×</a:t>
            </a:r>
            <a:r>
              <a:rPr lang="en-US" sz="1800" dirty="0">
                <a:effectLst/>
                <a:latin typeface="Arial" panose="020B0604020202020204" pitchFamily="34" charset="0"/>
                <a:ea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employment interaction (</a:t>
            </a:r>
            <a:r>
              <a:rPr lang="en-US" sz="1800" dirty="0">
                <a:effectLst/>
                <a:latin typeface="Aptos" panose="020B0004020202020204" pitchFamily="34" charset="0"/>
                <a:ea typeface="Aptos" panose="020B0004020202020204" pitchFamily="34" charset="0"/>
                <a:cs typeface="Aptos" panose="020B0004020202020204" pitchFamily="34" charset="0"/>
              </a:rPr>
              <a:t>β </a:t>
            </a:r>
            <a:r>
              <a:rPr lang="en-US" sz="1800" dirty="0">
                <a:effectLst/>
                <a:latin typeface="Aptos" panose="020B0004020202020204" pitchFamily="34" charset="0"/>
                <a:ea typeface="Aptos" panose="020B0004020202020204" pitchFamily="34" charset="0"/>
                <a:cs typeface="Times New Roman" panose="02020603050405020304" pitchFamily="18" charset="0"/>
              </a:rPr>
              <a:t>=</a:t>
            </a:r>
            <a:r>
              <a:rPr lang="en-US" sz="1800" dirty="0">
                <a:effectLst/>
                <a:latin typeface="Aptos" panose="020B0004020202020204" pitchFamily="34" charset="0"/>
                <a:ea typeface="Aptos" panose="020B0004020202020204" pitchFamily="34" charset="0"/>
                <a:cs typeface="Aptos" panose="020B0004020202020204" pitchFamily="34" charset="0"/>
              </a:rPr>
              <a:t> </a:t>
            </a:r>
            <a:r>
              <a:rPr lang="en-US" sz="1800" dirty="0">
                <a:effectLst/>
                <a:latin typeface="Aptos" panose="020B0004020202020204" pitchFamily="34" charset="0"/>
                <a:ea typeface="Aptos" panose="020B0004020202020204" pitchFamily="34" charset="0"/>
                <a:cs typeface="Times New Roman" panose="02020603050405020304" pitchFamily="18" charset="0"/>
              </a:rPr>
              <a:t>0.040), confirming a widening premium</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23861837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In sum, self‑employment confers a robust, increasing earnings advantage through mid‑life. Our mixed</a:t>
            </a:r>
            <a:r>
              <a:rPr lang="en-US" sz="1800" dirty="0">
                <a:effectLst/>
                <a:latin typeface="Cambria Math" panose="02040503050406030204" pitchFamily="18" charset="0"/>
                <a:ea typeface="Aptos" panose="020B0004020202020204" pitchFamily="34" charset="0"/>
                <a:cs typeface="Cambria Math" panose="020405030504060302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effects model explains average trajectories well but individual predictions remain noisy. </a:t>
            </a:r>
            <a:r>
              <a:rPr lang="en-US" sz="2800" dirty="0">
                <a:effectLst/>
                <a:latin typeface="Aptos" panose="020B0004020202020204" pitchFamily="34" charset="0"/>
                <a:ea typeface="Aptos" panose="020B0004020202020204" pitchFamily="34" charset="0"/>
                <a:cs typeface="Times New Roman" panose="02020603050405020304" pitchFamily="18" charset="0"/>
              </a:rPr>
              <a:t>I</a:t>
            </a:r>
            <a:r>
              <a:rPr lang="en-US" sz="2800" dirty="0"/>
              <a:t> used </a:t>
            </a:r>
            <a:r>
              <a:rPr lang="en-US" sz="2800" dirty="0" err="1"/>
              <a:t>WeMix</a:t>
            </a:r>
            <a:r>
              <a:rPr lang="en-US" sz="2800" dirty="0"/>
              <a:t> to incorporate weights for representativeness, but </a:t>
            </a:r>
            <a:r>
              <a:rPr lang="en-US" sz="2800" dirty="0" err="1"/>
              <a:t>WeMix</a:t>
            </a:r>
            <a:r>
              <a:rPr lang="en-US" sz="2800" dirty="0"/>
              <a:t> does </a:t>
            </a:r>
            <a:r>
              <a:rPr lang="en-US" sz="2800" b="1" dirty="0"/>
              <a:t>not</a:t>
            </a:r>
            <a:r>
              <a:rPr lang="en-US" sz="2800" dirty="0"/>
              <a:t> produce fully survey‐correct variance estimates. </a:t>
            </a:r>
            <a:r>
              <a:rPr lang="en-US" sz="1800" dirty="0">
                <a:effectLst/>
                <a:latin typeface="Aptos" panose="020B0004020202020204" pitchFamily="34" charset="0"/>
                <a:ea typeface="Aptos" panose="020B0004020202020204" pitchFamily="34" charset="0"/>
                <a:cs typeface="Times New Roman" panose="02020603050405020304" pitchFamily="18" charset="0"/>
              </a:rPr>
              <a:t>Future work could explore additional random effects, industry controls, or bootstrap</a:t>
            </a:r>
            <a:r>
              <a:rPr lang="en-US" sz="1800" dirty="0">
                <a:effectLst/>
                <a:latin typeface="Cambria Math" panose="02040503050406030204" pitchFamily="18" charset="0"/>
                <a:ea typeface="Aptos" panose="020B0004020202020204" pitchFamily="34" charset="0"/>
                <a:cs typeface="Cambria Math" panose="02040503050406030204" pitchFamily="18" charset="0"/>
              </a:rPr>
              <a:t>‐</a:t>
            </a:r>
            <a:r>
              <a:rPr lang="en-US" sz="1800" dirty="0">
                <a:effectLst/>
                <a:latin typeface="Aptos" panose="020B0004020202020204" pitchFamily="34" charset="0"/>
                <a:ea typeface="Aptos" panose="020B0004020202020204" pitchFamily="34" charset="0"/>
                <a:cs typeface="Times New Roman" panose="02020603050405020304" pitchFamily="18" charset="0"/>
              </a:rPr>
              <a:t>based inference. </a:t>
            </a:r>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lvl1pPr>
              <a:defRPr sz="1800" b="0">
                <a:solidFill>
                  <a:schemeClr val="accent3"/>
                </a:solidFill>
              </a:defRPr>
            </a:lvl1pPr>
          </a:lstStyle>
          <a:p>
            <a:fld id="{294A09A9-5501-47C1-A89A-A340965A2BE2}" type="slidenum">
              <a:rPr lang="en-US" smtClean="0"/>
              <a:pPr/>
              <a:t>‹#›</a:t>
            </a:fld>
            <a:endParaRPr lang="en-US" dirty="0"/>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dirty="0"/>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a:xfrm>
            <a:off x="594360" y="6245224"/>
            <a:ext cx="539288" cy="410375"/>
          </a:xfrm>
        </p:spPr>
        <p:txBody>
          <a:bodyPr/>
          <a:lstStyle>
            <a:lvl1pPr>
              <a:defRPr sz="1600">
                <a:solidFill>
                  <a:schemeClr val="accent3"/>
                </a:solidFill>
              </a:defRPr>
            </a:lvl1pPr>
          </a:lstStyle>
          <a:p>
            <a:fld id="{294A09A9-5501-47C1-A89A-A340965A2BE2}" type="slidenum">
              <a:rPr lang="en-US" smtClean="0"/>
              <a:pPr/>
              <a:t>‹#›</a:t>
            </a:fld>
            <a:endParaRPr lang="en-US" dirty="0"/>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245224"/>
            <a:ext cx="539288" cy="492460"/>
          </a:xfrm>
          <a:prstGeom prst="rect">
            <a:avLst/>
          </a:prstGeom>
        </p:spPr>
        <p:txBody>
          <a:bodyPr vert="horz" lIns="0" tIns="0" rIns="0" bIns="0" rtlCol="0" anchor="t" anchorCtr="0"/>
          <a:lstStyle>
            <a:lvl1pPr algn="l">
              <a:defRPr sz="1800" b="1" i="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594359" y="411479"/>
            <a:ext cx="8453387" cy="3291840"/>
          </a:xfrm>
        </p:spPr>
        <p:txBody>
          <a:bodyPr/>
          <a:lstStyle/>
          <a:p>
            <a:r>
              <a:rPr lang="en-US" sz="4400" dirty="0"/>
              <a:t>Income Trajectories: </a:t>
            </a:r>
            <a:br>
              <a:rPr lang="en-US" sz="4400" dirty="0"/>
            </a:br>
            <a:r>
              <a:rPr lang="en-US" sz="4400" dirty="0"/>
              <a:t>Wage Earners vs. Self Employed</a:t>
            </a:r>
          </a:p>
        </p:txBody>
      </p:sp>
      <p:sp>
        <p:nvSpPr>
          <p:cNvPr id="3" name="Text Placeholder 2">
            <a:extLst>
              <a:ext uri="{FF2B5EF4-FFF2-40B4-BE49-F238E27FC236}">
                <a16:creationId xmlns:a16="http://schemas.microsoft.com/office/drawing/2014/main" id="{EC58887A-1E35-8528-7F06-BDA2C98308AA}"/>
              </a:ext>
            </a:extLst>
          </p:cNvPr>
          <p:cNvSpPr>
            <a:spLocks noGrp="1"/>
          </p:cNvSpPr>
          <p:nvPr>
            <p:ph type="body" sz="quarter" idx="11"/>
          </p:nvPr>
        </p:nvSpPr>
        <p:spPr/>
        <p:txBody>
          <a:bodyPr/>
          <a:lstStyle/>
          <a:p>
            <a:r>
              <a:rPr lang="en-US" dirty="0"/>
              <a:t>Zaid Ghazi </a:t>
            </a:r>
          </a:p>
          <a:p>
            <a:endParaRPr lang="en-US" dirty="0"/>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A1869-9B8A-9F76-B783-D41811B490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F47660-95EA-FDD9-1D22-BF7572C9636F}"/>
              </a:ext>
            </a:extLst>
          </p:cNvPr>
          <p:cNvSpPr>
            <a:spLocks noGrp="1"/>
          </p:cNvSpPr>
          <p:nvPr>
            <p:ph type="title"/>
          </p:nvPr>
        </p:nvSpPr>
        <p:spPr>
          <a:xfrm>
            <a:off x="594360" y="584005"/>
            <a:ext cx="10972800" cy="1188720"/>
          </a:xfrm>
        </p:spPr>
        <p:txBody>
          <a:bodyPr/>
          <a:lstStyle/>
          <a:p>
            <a:r>
              <a:rPr lang="en-US" dirty="0"/>
              <a:t> Data &amp; Variables</a:t>
            </a:r>
          </a:p>
        </p:txBody>
      </p:sp>
      <p:graphicFrame>
        <p:nvGraphicFramePr>
          <p:cNvPr id="4" name="Table Placeholder 3">
            <a:extLst>
              <a:ext uri="{FF2B5EF4-FFF2-40B4-BE49-F238E27FC236}">
                <a16:creationId xmlns:a16="http://schemas.microsoft.com/office/drawing/2014/main" id="{1E5C2FE3-794A-A879-F13B-843C593C53C8}"/>
              </a:ext>
            </a:extLst>
          </p:cNvPr>
          <p:cNvGraphicFramePr>
            <a:graphicFrameLocks noGrp="1"/>
          </p:cNvGraphicFramePr>
          <p:nvPr>
            <p:ph type="tbl" sz="quarter" idx="10"/>
            <p:extLst>
              <p:ext uri="{D42A27DB-BD31-4B8C-83A1-F6EECF244321}">
                <p14:modId xmlns:p14="http://schemas.microsoft.com/office/powerpoint/2010/main" val="2743286542"/>
              </p:ext>
            </p:extLst>
          </p:nvPr>
        </p:nvGraphicFramePr>
        <p:xfrm>
          <a:off x="5438271" y="584005"/>
          <a:ext cx="6384759" cy="1920842"/>
        </p:xfrm>
        <a:graphic>
          <a:graphicData uri="http://schemas.openxmlformats.org/drawingml/2006/table">
            <a:tbl>
              <a:tblPr firstRow="1" bandRow="1">
                <a:tableStyleId>{69CF1AB2-1976-4502-BF36-3FF5EA218861}</a:tableStyleId>
              </a:tblPr>
              <a:tblGrid>
                <a:gridCol w="1730980">
                  <a:extLst>
                    <a:ext uri="{9D8B030D-6E8A-4147-A177-3AD203B41FA5}">
                      <a16:colId xmlns:a16="http://schemas.microsoft.com/office/drawing/2014/main" val="2382218087"/>
                    </a:ext>
                  </a:extLst>
                </a:gridCol>
                <a:gridCol w="3234945">
                  <a:extLst>
                    <a:ext uri="{9D8B030D-6E8A-4147-A177-3AD203B41FA5}">
                      <a16:colId xmlns:a16="http://schemas.microsoft.com/office/drawing/2014/main" val="3953468724"/>
                    </a:ext>
                  </a:extLst>
                </a:gridCol>
                <a:gridCol w="1418834">
                  <a:extLst>
                    <a:ext uri="{9D8B030D-6E8A-4147-A177-3AD203B41FA5}">
                      <a16:colId xmlns:a16="http://schemas.microsoft.com/office/drawing/2014/main" val="4277526474"/>
                    </a:ext>
                  </a:extLst>
                </a:gridCol>
              </a:tblGrid>
              <a:tr h="621759">
                <a:tc>
                  <a:txBody>
                    <a:bodyPr/>
                    <a:lstStyle/>
                    <a:p>
                      <a:pPr algn="ctr"/>
                      <a:r>
                        <a:rPr lang="en-US" dirty="0"/>
                        <a:t>Cohort</a:t>
                      </a:r>
                      <a:endParaRPr lang="en-US" dirty="0">
                        <a:solidFill>
                          <a:schemeClr val="bg1"/>
                        </a:solidFill>
                        <a:latin typeface="+mj-lt"/>
                      </a:endParaRPr>
                    </a:p>
                  </a:txBody>
                  <a:tcPr anchor="ctr"/>
                </a:tc>
                <a:tc>
                  <a:txBody>
                    <a:bodyPr/>
                    <a:lstStyle/>
                    <a:p>
                      <a:pPr algn="ctr"/>
                      <a:r>
                        <a:rPr lang="en-US" dirty="0"/>
                        <a:t>Survey years</a:t>
                      </a:r>
                      <a:endParaRPr lang="en-US" dirty="0">
                        <a:solidFill>
                          <a:schemeClr val="bg1"/>
                        </a:solidFill>
                        <a:latin typeface="+mj-lt"/>
                      </a:endParaRPr>
                    </a:p>
                  </a:txBody>
                  <a:tcPr anchor="ctr"/>
                </a:tc>
                <a:tc>
                  <a:txBody>
                    <a:bodyPr/>
                    <a:lstStyle/>
                    <a:p>
                      <a:pPr algn="ctr"/>
                      <a:r>
                        <a:rPr lang="en-US" dirty="0"/>
                        <a:t>N respondents</a:t>
                      </a:r>
                      <a:endParaRPr lang="en-US" dirty="0">
                        <a:solidFill>
                          <a:schemeClr val="bg1"/>
                        </a:solidFill>
                        <a:latin typeface="+mj-lt"/>
                      </a:endParaRPr>
                    </a:p>
                  </a:txBody>
                  <a:tcPr anchor="ctr"/>
                </a:tc>
                <a:extLst>
                  <a:ext uri="{0D108BD9-81ED-4DB2-BD59-A6C34878D82A}">
                    <a16:rowId xmlns:a16="http://schemas.microsoft.com/office/drawing/2014/main" val="2857107962"/>
                  </a:ext>
                </a:extLst>
              </a:tr>
              <a:tr h="640381">
                <a:tc>
                  <a:txBody>
                    <a:bodyPr/>
                    <a:lstStyle/>
                    <a:p>
                      <a:pPr algn="ctr"/>
                      <a:r>
                        <a:rPr lang="en-US" dirty="0"/>
                        <a:t>NLSY79</a:t>
                      </a:r>
                    </a:p>
                  </a:txBody>
                  <a:tcPr anchor="ctr"/>
                </a:tc>
                <a:tc>
                  <a:txBody>
                    <a:bodyPr/>
                    <a:lstStyle/>
                    <a:p>
                      <a:pPr algn="ctr"/>
                      <a:r>
                        <a:rPr lang="en-US" dirty="0"/>
                        <a:t>1979 – 1994 (annual), </a:t>
                      </a:r>
                    </a:p>
                    <a:p>
                      <a:pPr algn="ctr"/>
                      <a:r>
                        <a:rPr lang="en-US" dirty="0"/>
                        <a:t>1996 – 2018 (biennial)</a:t>
                      </a:r>
                    </a:p>
                  </a:txBody>
                  <a:tcPr anchor="ctr"/>
                </a:tc>
                <a:tc>
                  <a:txBody>
                    <a:bodyPr/>
                    <a:lstStyle/>
                    <a:p>
                      <a:pPr algn="ctr"/>
                      <a:r>
                        <a:rPr lang="en-US" dirty="0"/>
                        <a:t>12,686</a:t>
                      </a:r>
                    </a:p>
                  </a:txBody>
                  <a:tcPr anchor="ctr"/>
                </a:tc>
                <a:extLst>
                  <a:ext uri="{0D108BD9-81ED-4DB2-BD59-A6C34878D82A}">
                    <a16:rowId xmlns:a16="http://schemas.microsoft.com/office/drawing/2014/main" val="1671386868"/>
                  </a:ext>
                </a:extLst>
              </a:tr>
              <a:tr h="640381">
                <a:tc>
                  <a:txBody>
                    <a:bodyPr/>
                    <a:lstStyle/>
                    <a:p>
                      <a:pPr algn="ctr"/>
                      <a:r>
                        <a:rPr lang="en-US" dirty="0"/>
                        <a:t>NLSY97</a:t>
                      </a:r>
                    </a:p>
                  </a:txBody>
                  <a:tcPr anchor="ctr"/>
                </a:tc>
                <a:tc>
                  <a:txBody>
                    <a:bodyPr/>
                    <a:lstStyle/>
                    <a:p>
                      <a:pPr algn="ctr"/>
                      <a:r>
                        <a:rPr lang="en-US" dirty="0"/>
                        <a:t>1997 – 2011 (annual), </a:t>
                      </a:r>
                    </a:p>
                    <a:p>
                      <a:pPr algn="ctr"/>
                      <a:r>
                        <a:rPr lang="en-US" dirty="0"/>
                        <a:t>2013 – 2017 (biennial)</a:t>
                      </a:r>
                    </a:p>
                  </a:txBody>
                  <a:tcPr anchor="ctr"/>
                </a:tc>
                <a:tc>
                  <a:txBody>
                    <a:bodyPr/>
                    <a:lstStyle/>
                    <a:p>
                      <a:pPr algn="ctr"/>
                      <a:r>
                        <a:rPr lang="en-US" dirty="0"/>
                        <a:t>8,984</a:t>
                      </a:r>
                    </a:p>
                  </a:txBody>
                  <a:tcPr anchor="ctr"/>
                </a:tc>
                <a:extLst>
                  <a:ext uri="{0D108BD9-81ED-4DB2-BD59-A6C34878D82A}">
                    <a16:rowId xmlns:a16="http://schemas.microsoft.com/office/drawing/2014/main" val="380626418"/>
                  </a:ext>
                </a:extLst>
              </a:tr>
            </a:tbl>
          </a:graphicData>
        </a:graphic>
      </p:graphicFrame>
      <p:graphicFrame>
        <p:nvGraphicFramePr>
          <p:cNvPr id="2" name="Table Placeholder 3">
            <a:extLst>
              <a:ext uri="{FF2B5EF4-FFF2-40B4-BE49-F238E27FC236}">
                <a16:creationId xmlns:a16="http://schemas.microsoft.com/office/drawing/2014/main" id="{AFF2E08E-1627-2981-7378-9661AAEDA86F}"/>
              </a:ext>
            </a:extLst>
          </p:cNvPr>
          <p:cNvGraphicFramePr>
            <a:graphicFrameLocks/>
          </p:cNvGraphicFramePr>
          <p:nvPr>
            <p:extLst>
              <p:ext uri="{D42A27DB-BD31-4B8C-83A1-F6EECF244321}">
                <p14:modId xmlns:p14="http://schemas.microsoft.com/office/powerpoint/2010/main" val="1990059203"/>
              </p:ext>
            </p:extLst>
          </p:nvPr>
        </p:nvGraphicFramePr>
        <p:xfrm>
          <a:off x="1700545" y="2641157"/>
          <a:ext cx="8538726" cy="4111333"/>
        </p:xfrm>
        <a:graphic>
          <a:graphicData uri="http://schemas.openxmlformats.org/drawingml/2006/table">
            <a:tbl>
              <a:tblPr firstRow="1" bandRow="1">
                <a:tableStyleId>{69CF1AB2-1976-4502-BF36-3FF5EA218861}</a:tableStyleId>
              </a:tblPr>
              <a:tblGrid>
                <a:gridCol w="4269363">
                  <a:extLst>
                    <a:ext uri="{9D8B030D-6E8A-4147-A177-3AD203B41FA5}">
                      <a16:colId xmlns:a16="http://schemas.microsoft.com/office/drawing/2014/main" val="2382218087"/>
                    </a:ext>
                  </a:extLst>
                </a:gridCol>
                <a:gridCol w="4269363">
                  <a:extLst>
                    <a:ext uri="{9D8B030D-6E8A-4147-A177-3AD203B41FA5}">
                      <a16:colId xmlns:a16="http://schemas.microsoft.com/office/drawing/2014/main" val="3953468724"/>
                    </a:ext>
                  </a:extLst>
                </a:gridCol>
              </a:tblGrid>
              <a:tr h="363976">
                <a:tc>
                  <a:txBody>
                    <a:bodyPr/>
                    <a:lstStyle/>
                    <a:p>
                      <a:pPr algn="ctr"/>
                      <a:r>
                        <a:rPr lang="en-US" sz="1600" dirty="0"/>
                        <a:t>Variable</a:t>
                      </a:r>
                      <a:endParaRPr lang="en-US" sz="1600" dirty="0">
                        <a:solidFill>
                          <a:schemeClr val="bg1"/>
                        </a:solidFill>
                        <a:latin typeface="+mj-lt"/>
                      </a:endParaRPr>
                    </a:p>
                  </a:txBody>
                  <a:tcPr anchor="ctr"/>
                </a:tc>
                <a:tc>
                  <a:txBody>
                    <a:bodyPr/>
                    <a:lstStyle/>
                    <a:p>
                      <a:pPr algn="ctr"/>
                      <a:r>
                        <a:rPr lang="en-US" sz="1600" dirty="0"/>
                        <a:t>Description</a:t>
                      </a:r>
                      <a:endParaRPr lang="en-US" sz="1600" dirty="0">
                        <a:solidFill>
                          <a:schemeClr val="bg1"/>
                        </a:solidFill>
                        <a:latin typeface="+mj-lt"/>
                      </a:endParaRPr>
                    </a:p>
                  </a:txBody>
                  <a:tcPr anchor="ctr"/>
                </a:tc>
                <a:extLst>
                  <a:ext uri="{0D108BD9-81ED-4DB2-BD59-A6C34878D82A}">
                    <a16:rowId xmlns:a16="http://schemas.microsoft.com/office/drawing/2014/main" val="2857107962"/>
                  </a:ext>
                </a:extLst>
              </a:tr>
              <a:tr h="379347">
                <a:tc>
                  <a:txBody>
                    <a:bodyPr/>
                    <a:lstStyle/>
                    <a:p>
                      <a:pPr algn="ctr"/>
                      <a:r>
                        <a:rPr lang="en-US" sz="1600" dirty="0">
                          <a:solidFill>
                            <a:srgbClr val="00B050"/>
                          </a:solidFill>
                        </a:rPr>
                        <a:t>Income</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srgbClr val="00B050"/>
                          </a:solidFill>
                        </a:rPr>
                        <a:t>Annual earnings (2017 USD, CPI‐adjusted)</a:t>
                      </a:r>
                    </a:p>
                  </a:txBody>
                  <a:tcPr anchor="ctr"/>
                </a:tc>
                <a:extLst>
                  <a:ext uri="{0D108BD9-81ED-4DB2-BD59-A6C34878D82A}">
                    <a16:rowId xmlns:a16="http://schemas.microsoft.com/office/drawing/2014/main" val="1284291216"/>
                  </a:ext>
                </a:extLst>
              </a:tr>
              <a:tr h="379347">
                <a:tc>
                  <a:txBody>
                    <a:bodyPr/>
                    <a:lstStyle/>
                    <a:p>
                      <a:pPr algn="ctr"/>
                      <a:r>
                        <a:rPr lang="en-US" sz="1600" dirty="0"/>
                        <a:t>Age</a:t>
                      </a:r>
                    </a:p>
                  </a:txBody>
                  <a:tcPr anchor="ctr"/>
                </a:tc>
                <a:tc>
                  <a:txBody>
                    <a:bodyPr/>
                    <a:lstStyle/>
                    <a:p>
                      <a:pPr algn="ctr"/>
                      <a:r>
                        <a:rPr lang="en-US" sz="1600" dirty="0"/>
                        <a:t>In years</a:t>
                      </a:r>
                    </a:p>
                  </a:txBody>
                  <a:tcPr anchor="ctr"/>
                </a:tc>
                <a:extLst>
                  <a:ext uri="{0D108BD9-81ED-4DB2-BD59-A6C34878D82A}">
                    <a16:rowId xmlns:a16="http://schemas.microsoft.com/office/drawing/2014/main" val="1671386868"/>
                  </a:ext>
                </a:extLst>
              </a:tr>
              <a:tr h="379347">
                <a:tc>
                  <a:txBody>
                    <a:bodyPr/>
                    <a:lstStyle/>
                    <a:p>
                      <a:pPr algn="ctr"/>
                      <a:r>
                        <a:rPr lang="en-US" sz="1600" dirty="0"/>
                        <a:t>AFQT</a:t>
                      </a:r>
                    </a:p>
                  </a:txBody>
                  <a:tcPr anchor="ctr"/>
                </a:tc>
                <a:tc>
                  <a:txBody>
                    <a:bodyPr/>
                    <a:lstStyle/>
                    <a:p>
                      <a:pPr algn="ctr"/>
                      <a:r>
                        <a:rPr lang="en-US" sz="1600" dirty="0"/>
                        <a:t>Armed Forces Qualifying Test score</a:t>
                      </a:r>
                    </a:p>
                  </a:txBody>
                  <a:tcPr anchor="ctr"/>
                </a:tc>
                <a:extLst>
                  <a:ext uri="{0D108BD9-81ED-4DB2-BD59-A6C34878D82A}">
                    <a16:rowId xmlns:a16="http://schemas.microsoft.com/office/drawing/2014/main" val="380626418"/>
                  </a:ext>
                </a:extLst>
              </a:tr>
              <a:tr h="363976">
                <a:tc>
                  <a:txBody>
                    <a:bodyPr/>
                    <a:lstStyle/>
                    <a:p>
                      <a:pPr algn="ctr"/>
                      <a:r>
                        <a:rPr lang="en-US" sz="1600" dirty="0"/>
                        <a:t>HGC</a:t>
                      </a:r>
                    </a:p>
                  </a:txBody>
                  <a:tcPr anchor="ctr"/>
                </a:tc>
                <a:tc>
                  <a:txBody>
                    <a:bodyPr/>
                    <a:lstStyle/>
                    <a:p>
                      <a:pPr algn="ctr"/>
                      <a:r>
                        <a:rPr lang="en-US" sz="1600" dirty="0"/>
                        <a:t>Highest grade completed</a:t>
                      </a:r>
                    </a:p>
                  </a:txBody>
                  <a:tcPr anchor="ctr"/>
                </a:tc>
                <a:extLst>
                  <a:ext uri="{0D108BD9-81ED-4DB2-BD59-A6C34878D82A}">
                    <a16:rowId xmlns:a16="http://schemas.microsoft.com/office/drawing/2014/main" val="2132482967"/>
                  </a:ext>
                </a:extLst>
              </a:tr>
              <a:tr h="363976">
                <a:tc>
                  <a:txBody>
                    <a:bodyPr/>
                    <a:lstStyle/>
                    <a:p>
                      <a:pPr algn="ctr"/>
                      <a:r>
                        <a:rPr lang="en-US" sz="1600" dirty="0"/>
                        <a:t>Hours worked</a:t>
                      </a:r>
                    </a:p>
                  </a:txBody>
                  <a:tcPr anchor="ctr"/>
                </a:tc>
                <a:tc>
                  <a:txBody>
                    <a:bodyPr/>
                    <a:lstStyle/>
                    <a:p>
                      <a:pPr algn="ctr"/>
                      <a:r>
                        <a:rPr lang="en-US" sz="1600" dirty="0"/>
                        <a:t>Total annual hours worked</a:t>
                      </a:r>
                    </a:p>
                  </a:txBody>
                  <a:tcPr anchor="ctr"/>
                </a:tc>
                <a:extLst>
                  <a:ext uri="{0D108BD9-81ED-4DB2-BD59-A6C34878D82A}">
                    <a16:rowId xmlns:a16="http://schemas.microsoft.com/office/drawing/2014/main" val="3936251906"/>
                  </a:ext>
                </a:extLst>
              </a:tr>
              <a:tr h="379347">
                <a:tc>
                  <a:txBody>
                    <a:bodyPr/>
                    <a:lstStyle/>
                    <a:p>
                      <a:pPr algn="ctr"/>
                      <a:r>
                        <a:rPr lang="en-US" sz="1600" dirty="0">
                          <a:solidFill>
                            <a:srgbClr val="00B050"/>
                          </a:solidFill>
                        </a:rPr>
                        <a:t>Employment status</a:t>
                      </a:r>
                    </a:p>
                  </a:txBody>
                  <a:tcPr anchor="ctr"/>
                </a:tc>
                <a:tc>
                  <a:txBody>
                    <a:bodyPr/>
                    <a:lstStyle/>
                    <a:p>
                      <a:pPr algn="ctr"/>
                      <a:r>
                        <a:rPr lang="en-US" sz="1600" dirty="0">
                          <a:solidFill>
                            <a:srgbClr val="00B050"/>
                          </a:solidFill>
                        </a:rPr>
                        <a:t>Wage‑earner vs. Self‑employed (dynamic)</a:t>
                      </a:r>
                    </a:p>
                  </a:txBody>
                  <a:tcPr anchor="ctr"/>
                </a:tc>
                <a:extLst>
                  <a:ext uri="{0D108BD9-81ED-4DB2-BD59-A6C34878D82A}">
                    <a16:rowId xmlns:a16="http://schemas.microsoft.com/office/drawing/2014/main" val="568537164"/>
                  </a:ext>
                </a:extLst>
              </a:tr>
              <a:tr h="363976">
                <a:tc>
                  <a:txBody>
                    <a:bodyPr/>
                    <a:lstStyle/>
                    <a:p>
                      <a:pPr algn="ctr"/>
                      <a:r>
                        <a:rPr lang="en-US" sz="1600" dirty="0"/>
                        <a:t>Gender</a:t>
                      </a:r>
                    </a:p>
                  </a:txBody>
                  <a:tcPr anchor="ctr"/>
                </a:tc>
                <a:tc>
                  <a:txBody>
                    <a:bodyPr/>
                    <a:lstStyle/>
                    <a:p>
                      <a:pPr algn="ctr"/>
                      <a:r>
                        <a:rPr lang="en-US" sz="1600" dirty="0"/>
                        <a:t>Male / Female</a:t>
                      </a:r>
                    </a:p>
                  </a:txBody>
                  <a:tcPr anchor="ctr"/>
                </a:tc>
                <a:extLst>
                  <a:ext uri="{0D108BD9-81ED-4DB2-BD59-A6C34878D82A}">
                    <a16:rowId xmlns:a16="http://schemas.microsoft.com/office/drawing/2014/main" val="3761618452"/>
                  </a:ext>
                </a:extLst>
              </a:tr>
              <a:tr h="379347">
                <a:tc>
                  <a:txBody>
                    <a:bodyPr/>
                    <a:lstStyle/>
                    <a:p>
                      <a:pPr algn="ctr"/>
                      <a:r>
                        <a:rPr lang="en-US" sz="1600" dirty="0"/>
                        <a:t>Race</a:t>
                      </a:r>
                    </a:p>
                  </a:txBody>
                  <a:tcPr anchor="ctr"/>
                </a:tc>
                <a:tc>
                  <a:txBody>
                    <a:bodyPr/>
                    <a:lstStyle/>
                    <a:p>
                      <a:pPr algn="ctr"/>
                      <a:r>
                        <a:rPr lang="en-US" sz="1600" dirty="0"/>
                        <a:t>Hispanic / Black / Non‑Black, Non‑Hispanic</a:t>
                      </a:r>
                    </a:p>
                  </a:txBody>
                  <a:tcPr anchor="ctr"/>
                </a:tc>
                <a:extLst>
                  <a:ext uri="{0D108BD9-81ED-4DB2-BD59-A6C34878D82A}">
                    <a16:rowId xmlns:a16="http://schemas.microsoft.com/office/drawing/2014/main" val="2500449170"/>
                  </a:ext>
                </a:extLst>
              </a:tr>
              <a:tr h="379347">
                <a:tc>
                  <a:txBody>
                    <a:bodyPr/>
                    <a:lstStyle/>
                    <a:p>
                      <a:pPr algn="ctr"/>
                      <a:r>
                        <a:rPr lang="en-US" sz="1600" dirty="0"/>
                        <a:t>Sampling weight</a:t>
                      </a:r>
                    </a:p>
                  </a:txBody>
                  <a:tcPr anchor="ctr"/>
                </a:tc>
                <a:tc>
                  <a:txBody>
                    <a:bodyPr/>
                    <a:lstStyle/>
                    <a:p>
                      <a:pPr algn="ctr"/>
                      <a:r>
                        <a:rPr lang="en-US" sz="1600" dirty="0"/>
                        <a:t>Survey sampling weight</a:t>
                      </a:r>
                    </a:p>
                  </a:txBody>
                  <a:tcPr anchor="ctr"/>
                </a:tc>
                <a:extLst>
                  <a:ext uri="{0D108BD9-81ED-4DB2-BD59-A6C34878D82A}">
                    <a16:rowId xmlns:a16="http://schemas.microsoft.com/office/drawing/2014/main" val="2017827748"/>
                  </a:ext>
                </a:extLst>
              </a:tr>
              <a:tr h="379347">
                <a:tc>
                  <a:txBody>
                    <a:bodyPr/>
                    <a:lstStyle/>
                    <a:p>
                      <a:pPr algn="ctr"/>
                      <a:r>
                        <a:rPr lang="en-US" sz="1600" dirty="0"/>
                        <a:t>Year</a:t>
                      </a:r>
                    </a:p>
                  </a:txBody>
                  <a:tcPr anchor="ctr"/>
                </a:tc>
                <a:tc>
                  <a:txBody>
                    <a:bodyPr/>
                    <a:lstStyle/>
                    <a:p>
                      <a:pPr algn="ctr"/>
                      <a:r>
                        <a:rPr lang="en-US" sz="1600" dirty="0"/>
                        <a:t>Year of Survey</a:t>
                      </a:r>
                    </a:p>
                  </a:txBody>
                  <a:tcPr anchor="ctr"/>
                </a:tc>
                <a:extLst>
                  <a:ext uri="{0D108BD9-81ED-4DB2-BD59-A6C34878D82A}">
                    <a16:rowId xmlns:a16="http://schemas.microsoft.com/office/drawing/2014/main" val="388052911"/>
                  </a:ext>
                </a:extLst>
              </a:tr>
            </a:tbl>
          </a:graphicData>
        </a:graphic>
      </p:graphicFrame>
      <p:sp>
        <p:nvSpPr>
          <p:cNvPr id="5" name="Slide Number Placeholder 4">
            <a:extLst>
              <a:ext uri="{FF2B5EF4-FFF2-40B4-BE49-F238E27FC236}">
                <a16:creationId xmlns:a16="http://schemas.microsoft.com/office/drawing/2014/main" id="{281052CA-3956-75B8-CC76-5A4F01D488B5}"/>
              </a:ext>
            </a:extLst>
          </p:cNvPr>
          <p:cNvSpPr>
            <a:spLocks noGrp="1"/>
          </p:cNvSpPr>
          <p:nvPr>
            <p:ph type="sldNum" sz="quarter" idx="12"/>
          </p:nvPr>
        </p:nvSpPr>
        <p:spPr/>
        <p:txBody>
          <a:bodyPr/>
          <a:lstStyle/>
          <a:p>
            <a:fld id="{294A09A9-5501-47C1-A89A-A340965A2BE2}" type="slidenum">
              <a:rPr lang="en-US" smtClean="0"/>
              <a:pPr/>
              <a:t>2</a:t>
            </a:fld>
            <a:endParaRPr lang="en-US" dirty="0">
              <a:latin typeface="+mn-lt"/>
            </a:endParaRPr>
          </a:p>
        </p:txBody>
      </p:sp>
    </p:spTree>
    <p:extLst>
      <p:ext uri="{BB962C8B-B14F-4D97-AF65-F5344CB8AC3E}">
        <p14:creationId xmlns:p14="http://schemas.microsoft.com/office/powerpoint/2010/main" val="253703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dirty="0"/>
              <a:t>Objective &amp; Key Question</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4360" y="3075698"/>
            <a:ext cx="11084293" cy="2254666"/>
          </a:xfrm>
        </p:spPr>
        <p:txBody>
          <a:bodyPr tIns="457200"/>
          <a:lstStyle/>
          <a:p>
            <a:pPr marL="0" indent="0">
              <a:buNone/>
            </a:pPr>
            <a:r>
              <a:rPr lang="en-US" b="0" dirty="0">
                <a:solidFill>
                  <a:schemeClr val="bg1"/>
                </a:solidFill>
              </a:rPr>
              <a:t>How do earnings trajectories differ between wage earners and self-employed workers after controlling for ability, education, hours, demographics and cohort?</a:t>
            </a:r>
          </a:p>
          <a:p>
            <a:pPr marL="0" indent="0">
              <a:buNone/>
            </a:pPr>
            <a:endParaRPr lang="en-US" dirty="0"/>
          </a:p>
        </p:txBody>
      </p:sp>
      <p:graphicFrame>
        <p:nvGraphicFramePr>
          <p:cNvPr id="4" name="Diagram 3">
            <a:extLst>
              <a:ext uri="{FF2B5EF4-FFF2-40B4-BE49-F238E27FC236}">
                <a16:creationId xmlns:a16="http://schemas.microsoft.com/office/drawing/2014/main" id="{91E169A2-A1D9-6C4A-E005-7E89B583D812}"/>
              </a:ext>
            </a:extLst>
          </p:cNvPr>
          <p:cNvGraphicFramePr/>
          <p:nvPr>
            <p:extLst>
              <p:ext uri="{D42A27DB-BD31-4B8C-83A1-F6EECF244321}">
                <p14:modId xmlns:p14="http://schemas.microsoft.com/office/powerpoint/2010/main" val="3019364329"/>
              </p:ext>
            </p:extLst>
          </p:nvPr>
        </p:nvGraphicFramePr>
        <p:xfrm>
          <a:off x="3657600" y="4203031"/>
          <a:ext cx="4876800" cy="21278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C86007CD-DBCE-C8F3-1E90-89035D782DD7}"/>
              </a:ext>
            </a:extLst>
          </p:cNvPr>
          <p:cNvSpPr>
            <a:spLocks noGrp="1"/>
          </p:cNvSpPr>
          <p:nvPr>
            <p:ph type="sldNum" sz="quarter" idx="26"/>
          </p:nvPr>
        </p:nvSpPr>
        <p:spPr/>
        <p:txBody>
          <a:bodyPr/>
          <a:lstStyle/>
          <a:p>
            <a:fld id="{294A09A9-5501-47C1-A89A-A340965A2BE2}" type="slidenum">
              <a:rPr lang="en-US" smtClean="0"/>
              <a:pPr/>
              <a:t>3</a:t>
            </a:fld>
            <a:endParaRPr lang="en-US" dirty="0">
              <a:latin typeface="+mn-lt"/>
            </a:endParaRPr>
          </a:p>
        </p:txBody>
      </p:sp>
    </p:spTree>
    <p:extLst>
      <p:ext uri="{BB962C8B-B14F-4D97-AF65-F5344CB8AC3E}">
        <p14:creationId xmlns:p14="http://schemas.microsoft.com/office/powerpoint/2010/main" val="334668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Graphic spid="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 Preprocessing &amp; Feature Engineering</a:t>
            </a:r>
          </a:p>
        </p:txBody>
      </p:sp>
      <p:graphicFrame>
        <p:nvGraphicFramePr>
          <p:cNvPr id="4" name="Content Placeholder 3">
            <a:extLst>
              <a:ext uri="{FF2B5EF4-FFF2-40B4-BE49-F238E27FC236}">
                <a16:creationId xmlns:a16="http://schemas.microsoft.com/office/drawing/2014/main" id="{B0F0E963-EA65-86D3-1C29-A6857D14E301}"/>
              </a:ext>
            </a:extLst>
          </p:cNvPr>
          <p:cNvGraphicFramePr>
            <a:graphicFrameLocks noGrp="1"/>
          </p:cNvGraphicFramePr>
          <p:nvPr>
            <p:ph sz="quarter" idx="13"/>
            <p:extLst>
              <p:ext uri="{D42A27DB-BD31-4B8C-83A1-F6EECF244321}">
                <p14:modId xmlns:p14="http://schemas.microsoft.com/office/powerpoint/2010/main" val="1895752301"/>
              </p:ext>
            </p:extLst>
          </p:nvPr>
        </p:nvGraphicFramePr>
        <p:xfrm>
          <a:off x="6435919" y="1917664"/>
          <a:ext cx="5372100" cy="23451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aphicFrame>
        <p:nvGraphicFramePr>
          <p:cNvPr id="5" name="Diagram 4">
            <a:extLst>
              <a:ext uri="{FF2B5EF4-FFF2-40B4-BE49-F238E27FC236}">
                <a16:creationId xmlns:a16="http://schemas.microsoft.com/office/drawing/2014/main" id="{ECE9A568-8F46-384A-809D-0C8F69C3862E}"/>
              </a:ext>
            </a:extLst>
          </p:cNvPr>
          <p:cNvGraphicFramePr/>
          <p:nvPr>
            <p:extLst>
              <p:ext uri="{D42A27DB-BD31-4B8C-83A1-F6EECF244321}">
                <p14:modId xmlns:p14="http://schemas.microsoft.com/office/powerpoint/2010/main" val="3701940721"/>
              </p:ext>
            </p:extLst>
          </p:nvPr>
        </p:nvGraphicFramePr>
        <p:xfrm>
          <a:off x="6448493" y="4262799"/>
          <a:ext cx="5372100" cy="221055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6" name="Slide Number Placeholder 5">
            <a:extLst>
              <a:ext uri="{FF2B5EF4-FFF2-40B4-BE49-F238E27FC236}">
                <a16:creationId xmlns:a16="http://schemas.microsoft.com/office/drawing/2014/main" id="{2F613F30-5FB2-4BAD-0D51-D62845EE6D20}"/>
              </a:ext>
            </a:extLst>
          </p:cNvPr>
          <p:cNvSpPr>
            <a:spLocks noGrp="1"/>
          </p:cNvSpPr>
          <p:nvPr>
            <p:ph type="sldNum" sz="quarter" idx="22"/>
          </p:nvPr>
        </p:nvSpPr>
        <p:spPr/>
        <p:txBody>
          <a:bodyPr/>
          <a:lstStyle/>
          <a:p>
            <a:fld id="{294A09A9-5501-47C1-A89A-A340965A2BE2}" type="slidenum">
              <a:rPr lang="en-US" smtClean="0"/>
              <a:pPr/>
              <a:t>4</a:t>
            </a:fld>
            <a:endParaRPr lang="en-US" dirty="0">
              <a:latin typeface="+mn-lt"/>
            </a:endParaRPr>
          </a:p>
        </p:txBody>
      </p:sp>
      <p:graphicFrame>
        <p:nvGraphicFramePr>
          <p:cNvPr id="8" name="Table Placeholder 3">
            <a:extLst>
              <a:ext uri="{FF2B5EF4-FFF2-40B4-BE49-F238E27FC236}">
                <a16:creationId xmlns:a16="http://schemas.microsoft.com/office/drawing/2014/main" id="{11DB9496-5B5D-C8C9-6EAA-A94D7DD7D634}"/>
              </a:ext>
            </a:extLst>
          </p:cNvPr>
          <p:cNvGraphicFramePr>
            <a:graphicFrameLocks/>
          </p:cNvGraphicFramePr>
          <p:nvPr>
            <p:extLst>
              <p:ext uri="{D42A27DB-BD31-4B8C-83A1-F6EECF244321}">
                <p14:modId xmlns:p14="http://schemas.microsoft.com/office/powerpoint/2010/main" val="848552951"/>
              </p:ext>
            </p:extLst>
          </p:nvPr>
        </p:nvGraphicFramePr>
        <p:xfrm>
          <a:off x="371407" y="2431473"/>
          <a:ext cx="5484871" cy="3459255"/>
        </p:xfrm>
        <a:graphic>
          <a:graphicData uri="http://schemas.openxmlformats.org/drawingml/2006/table">
            <a:tbl>
              <a:tblPr firstRow="1" bandRow="1">
                <a:tableStyleId>{69CF1AB2-1976-4502-BF36-3FF5EA218861}</a:tableStyleId>
              </a:tblPr>
              <a:tblGrid>
                <a:gridCol w="2199206">
                  <a:extLst>
                    <a:ext uri="{9D8B030D-6E8A-4147-A177-3AD203B41FA5}">
                      <a16:colId xmlns:a16="http://schemas.microsoft.com/office/drawing/2014/main" val="2382218087"/>
                    </a:ext>
                  </a:extLst>
                </a:gridCol>
                <a:gridCol w="1599023">
                  <a:extLst>
                    <a:ext uri="{9D8B030D-6E8A-4147-A177-3AD203B41FA5}">
                      <a16:colId xmlns:a16="http://schemas.microsoft.com/office/drawing/2014/main" val="3953468724"/>
                    </a:ext>
                  </a:extLst>
                </a:gridCol>
                <a:gridCol w="1686642">
                  <a:extLst>
                    <a:ext uri="{9D8B030D-6E8A-4147-A177-3AD203B41FA5}">
                      <a16:colId xmlns:a16="http://schemas.microsoft.com/office/drawing/2014/main" val="1818265922"/>
                    </a:ext>
                  </a:extLst>
                </a:gridCol>
              </a:tblGrid>
              <a:tr h="712049">
                <a:tc>
                  <a:txBody>
                    <a:bodyPr/>
                    <a:lstStyle/>
                    <a:p>
                      <a:pPr algn="ctr"/>
                      <a:r>
                        <a:rPr lang="en-US" b="0" dirty="0">
                          <a:solidFill>
                            <a:schemeClr val="bg1"/>
                          </a:solidFill>
                          <a:latin typeface="+mj-lt"/>
                        </a:rPr>
                        <a:t>Variable Name</a:t>
                      </a:r>
                    </a:p>
                  </a:txBody>
                  <a:tcPr anchor="ctr"/>
                </a:tc>
                <a:tc>
                  <a:txBody>
                    <a:bodyPr/>
                    <a:lstStyle/>
                    <a:p>
                      <a:pPr algn="ctr"/>
                      <a:r>
                        <a:rPr lang="en-US" b="0" dirty="0">
                          <a:solidFill>
                            <a:schemeClr val="bg1"/>
                          </a:solidFill>
                          <a:latin typeface="+mj-lt"/>
                        </a:rPr>
                        <a:t>Missing Observations</a:t>
                      </a:r>
                    </a:p>
                  </a:txBody>
                  <a:tcPr anchor="ctr"/>
                </a:tc>
                <a:tc>
                  <a:txBody>
                    <a:bodyPr/>
                    <a:lstStyle/>
                    <a:p>
                      <a:pPr algn="ctr"/>
                      <a:r>
                        <a:rPr lang="en-US" b="0" dirty="0">
                          <a:solidFill>
                            <a:schemeClr val="bg1"/>
                          </a:solidFill>
                          <a:latin typeface="+mj-lt"/>
                        </a:rPr>
                        <a:t>Percent Missing (%)</a:t>
                      </a:r>
                    </a:p>
                  </a:txBody>
                  <a:tcPr anchor="ctr"/>
                </a:tc>
                <a:extLst>
                  <a:ext uri="{0D108BD9-81ED-4DB2-BD59-A6C34878D82A}">
                    <a16:rowId xmlns:a16="http://schemas.microsoft.com/office/drawing/2014/main" val="2857107962"/>
                  </a:ext>
                </a:extLst>
              </a:tr>
              <a:tr h="661554">
                <a:tc>
                  <a:txBody>
                    <a:bodyPr/>
                    <a:lstStyle/>
                    <a:p>
                      <a:pPr algn="ctr"/>
                      <a:r>
                        <a:rPr lang="en-US" dirty="0"/>
                        <a:t>Age (Years)</a:t>
                      </a:r>
                    </a:p>
                  </a:txBody>
                  <a:tcPr anchor="ctr"/>
                </a:tc>
                <a:tc>
                  <a:txBody>
                    <a:bodyPr/>
                    <a:lstStyle/>
                    <a:p>
                      <a:pPr algn="ctr"/>
                      <a:r>
                        <a:rPr lang="en-US" dirty="0"/>
                        <a:t>59,141</a:t>
                      </a:r>
                    </a:p>
                  </a:txBody>
                  <a:tcPr anchor="ctr"/>
                </a:tc>
                <a:tc>
                  <a:txBody>
                    <a:bodyPr/>
                    <a:lstStyle/>
                    <a:p>
                      <a:pPr algn="ctr"/>
                      <a:r>
                        <a:rPr lang="en-US" dirty="0"/>
                        <a:t>19.4</a:t>
                      </a:r>
                    </a:p>
                  </a:txBody>
                  <a:tcPr anchor="ctr"/>
                </a:tc>
                <a:extLst>
                  <a:ext uri="{0D108BD9-81ED-4DB2-BD59-A6C34878D82A}">
                    <a16:rowId xmlns:a16="http://schemas.microsoft.com/office/drawing/2014/main" val="1671386868"/>
                  </a:ext>
                </a:extLst>
              </a:tr>
              <a:tr h="712049">
                <a:tc>
                  <a:txBody>
                    <a:bodyPr/>
                    <a:lstStyle/>
                    <a:p>
                      <a:pPr algn="ctr"/>
                      <a:r>
                        <a:rPr lang="en-US" dirty="0"/>
                        <a:t>AFQT Cognitive Score</a:t>
                      </a:r>
                    </a:p>
                  </a:txBody>
                  <a:tcPr anchor="ctr"/>
                </a:tc>
                <a:tc>
                  <a:txBody>
                    <a:bodyPr/>
                    <a:lstStyle/>
                    <a:p>
                      <a:pPr algn="ctr"/>
                      <a:r>
                        <a:rPr lang="en-US" dirty="0"/>
                        <a:t>32,034</a:t>
                      </a:r>
                    </a:p>
                  </a:txBody>
                  <a:tcPr anchor="ctr"/>
                </a:tc>
                <a:tc>
                  <a:txBody>
                    <a:bodyPr/>
                    <a:lstStyle/>
                    <a:p>
                      <a:pPr algn="ctr"/>
                      <a:r>
                        <a:rPr lang="en-US" dirty="0">
                          <a:effectLst/>
                        </a:rPr>
                        <a:t>10.5</a:t>
                      </a:r>
                    </a:p>
                  </a:txBody>
                  <a:tcPr anchor="ctr"/>
                </a:tc>
                <a:extLst>
                  <a:ext uri="{0D108BD9-81ED-4DB2-BD59-A6C34878D82A}">
                    <a16:rowId xmlns:a16="http://schemas.microsoft.com/office/drawing/2014/main" val="380626418"/>
                  </a:ext>
                </a:extLst>
              </a:tr>
              <a:tr h="712049">
                <a:tc>
                  <a:txBody>
                    <a:bodyPr/>
                    <a:lstStyle/>
                    <a:p>
                      <a:pPr algn="ctr"/>
                      <a:r>
                        <a:rPr lang="en-US" dirty="0"/>
                        <a:t>Highest Grade Completed</a:t>
                      </a:r>
                    </a:p>
                  </a:txBody>
                  <a:tcPr anchor="ctr"/>
                </a:tc>
                <a:tc>
                  <a:txBody>
                    <a:bodyPr/>
                    <a:lstStyle/>
                    <a:p>
                      <a:pPr algn="ctr"/>
                      <a:r>
                        <a:rPr lang="en-US" dirty="0"/>
                        <a:t>29,920</a:t>
                      </a:r>
                    </a:p>
                  </a:txBody>
                  <a:tcPr anchor="ctr"/>
                </a:tc>
                <a:tc>
                  <a:txBody>
                    <a:bodyPr/>
                    <a:lstStyle/>
                    <a:p>
                      <a:pPr algn="ctr"/>
                      <a:r>
                        <a:rPr lang="en-US" dirty="0"/>
                        <a:t>9.8</a:t>
                      </a:r>
                    </a:p>
                  </a:txBody>
                  <a:tcPr anchor="ctr"/>
                </a:tc>
                <a:extLst>
                  <a:ext uri="{0D108BD9-81ED-4DB2-BD59-A6C34878D82A}">
                    <a16:rowId xmlns:a16="http://schemas.microsoft.com/office/drawing/2014/main" val="2132482967"/>
                  </a:ext>
                </a:extLst>
              </a:tr>
              <a:tr h="661554">
                <a:tc>
                  <a:txBody>
                    <a:bodyPr/>
                    <a:lstStyle/>
                    <a:p>
                      <a:pPr algn="ctr"/>
                      <a:r>
                        <a:rPr lang="en-US" dirty="0"/>
                        <a:t>Employment Status</a:t>
                      </a:r>
                    </a:p>
                  </a:txBody>
                  <a:tcPr anchor="ctr"/>
                </a:tc>
                <a:tc>
                  <a:txBody>
                    <a:bodyPr/>
                    <a:lstStyle/>
                    <a:p>
                      <a:pPr algn="ctr"/>
                      <a:r>
                        <a:rPr lang="en-US" dirty="0"/>
                        <a:t>12,686</a:t>
                      </a:r>
                    </a:p>
                  </a:txBody>
                  <a:tcPr anchor="ctr"/>
                </a:tc>
                <a:tc>
                  <a:txBody>
                    <a:bodyPr/>
                    <a:lstStyle/>
                    <a:p>
                      <a:pPr algn="ctr"/>
                      <a:r>
                        <a:rPr lang="en-US" dirty="0">
                          <a:effectLst/>
                        </a:rPr>
                        <a:t>4.2</a:t>
                      </a:r>
                    </a:p>
                  </a:txBody>
                  <a:tcPr anchor="ctr"/>
                </a:tc>
                <a:extLst>
                  <a:ext uri="{0D108BD9-81ED-4DB2-BD59-A6C34878D82A}">
                    <a16:rowId xmlns:a16="http://schemas.microsoft.com/office/drawing/2014/main" val="3936251906"/>
                  </a:ext>
                </a:extLst>
              </a:tr>
            </a:tbl>
          </a:graphicData>
        </a:graphic>
      </p:graphicFrame>
    </p:spTree>
    <p:extLst>
      <p:ext uri="{BB962C8B-B14F-4D97-AF65-F5344CB8AC3E}">
        <p14:creationId xmlns:p14="http://schemas.microsoft.com/office/powerpoint/2010/main" val="3200312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18080-3F74-C22E-E454-04D213122F0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EB3EA9A-E016-DAE3-17E2-A1AD904FBA52}"/>
              </a:ext>
            </a:extLst>
          </p:cNvPr>
          <p:cNvSpPr>
            <a:spLocks noGrp="1"/>
          </p:cNvSpPr>
          <p:nvPr>
            <p:ph type="title"/>
          </p:nvPr>
        </p:nvSpPr>
        <p:spPr>
          <a:xfrm>
            <a:off x="594360" y="1170030"/>
            <a:ext cx="9778365" cy="700439"/>
          </a:xfrm>
        </p:spPr>
        <p:txBody>
          <a:bodyPr/>
          <a:lstStyle/>
          <a:p>
            <a:r>
              <a:rPr lang="en-US" dirty="0"/>
              <a:t>Exploratory Findings (I)</a:t>
            </a:r>
          </a:p>
        </p:txBody>
      </p:sp>
      <p:pic>
        <p:nvPicPr>
          <p:cNvPr id="11" name="Content Placeholder 10">
            <a:extLst>
              <a:ext uri="{FF2B5EF4-FFF2-40B4-BE49-F238E27FC236}">
                <a16:creationId xmlns:a16="http://schemas.microsoft.com/office/drawing/2014/main" id="{AC1BC7A6-30BF-F7AF-AD4D-C0E825E27A25}"/>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rcRect/>
          <a:stretch/>
        </p:blipFill>
        <p:spPr>
          <a:xfrm>
            <a:off x="864004" y="2697878"/>
            <a:ext cx="4616146" cy="2637797"/>
          </a:xfrm>
        </p:spPr>
      </p:pic>
      <p:sp>
        <p:nvSpPr>
          <p:cNvPr id="6" name="Title 8">
            <a:extLst>
              <a:ext uri="{FF2B5EF4-FFF2-40B4-BE49-F238E27FC236}">
                <a16:creationId xmlns:a16="http://schemas.microsoft.com/office/drawing/2014/main" id="{7176A7F6-DCA4-A4D8-2CC7-BB149A6D07D9}"/>
              </a:ext>
            </a:extLst>
          </p:cNvPr>
          <p:cNvSpPr txBox="1">
            <a:spLocks/>
          </p:cNvSpPr>
          <p:nvPr/>
        </p:nvSpPr>
        <p:spPr>
          <a:xfrm>
            <a:off x="594360" y="1302317"/>
            <a:ext cx="9778365" cy="700439"/>
          </a:xfrm>
          <a:prstGeom prst="rect">
            <a:avLst/>
          </a:prstGeom>
        </p:spPr>
        <p:txBody>
          <a:bodyPr vert="horz" lIns="0" tIns="0" rIns="0" bIns="0" rtlCol="0" anchor="b" anchorCtr="0">
            <a:noAutofit/>
          </a:bodyPr>
          <a:lst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800" dirty="0"/>
          </a:p>
        </p:txBody>
      </p:sp>
      <p:sp>
        <p:nvSpPr>
          <p:cNvPr id="2" name="Slide Number Placeholder 1">
            <a:extLst>
              <a:ext uri="{FF2B5EF4-FFF2-40B4-BE49-F238E27FC236}">
                <a16:creationId xmlns:a16="http://schemas.microsoft.com/office/drawing/2014/main" id="{BB5213E6-19B1-ACCC-9BCB-72C81C9C1160}"/>
              </a:ext>
            </a:extLst>
          </p:cNvPr>
          <p:cNvSpPr>
            <a:spLocks noGrp="1"/>
          </p:cNvSpPr>
          <p:nvPr>
            <p:ph type="sldNum" sz="quarter" idx="12"/>
          </p:nvPr>
        </p:nvSpPr>
        <p:spPr/>
        <p:txBody>
          <a:bodyPr/>
          <a:lstStyle/>
          <a:p>
            <a:fld id="{294A09A9-5501-47C1-A89A-A340965A2BE2}" type="slidenum">
              <a:rPr lang="en-US" smtClean="0"/>
              <a:pPr/>
              <a:t>5</a:t>
            </a:fld>
            <a:endParaRPr lang="en-US" dirty="0">
              <a:latin typeface="+mn-lt"/>
            </a:endParaRPr>
          </a:p>
        </p:txBody>
      </p:sp>
      <p:sp>
        <p:nvSpPr>
          <p:cNvPr id="5" name="TextBox 4">
            <a:extLst>
              <a:ext uri="{FF2B5EF4-FFF2-40B4-BE49-F238E27FC236}">
                <a16:creationId xmlns:a16="http://schemas.microsoft.com/office/drawing/2014/main" id="{99C1E519-8236-5BE2-8998-F4ADD7E6CFB0}"/>
              </a:ext>
            </a:extLst>
          </p:cNvPr>
          <p:cNvSpPr txBox="1"/>
          <p:nvPr/>
        </p:nvSpPr>
        <p:spPr>
          <a:xfrm>
            <a:off x="2324761" y="5287860"/>
            <a:ext cx="1694631" cy="400110"/>
          </a:xfrm>
          <a:prstGeom prst="rect">
            <a:avLst/>
          </a:prstGeom>
          <a:noFill/>
        </p:spPr>
        <p:txBody>
          <a:bodyPr wrap="none" rtlCol="0">
            <a:spAutoFit/>
          </a:bodyPr>
          <a:lstStyle/>
          <a:p>
            <a:pPr algn="ctr"/>
            <a:r>
              <a:rPr lang="en-US" sz="2000" b="1" dirty="0">
                <a:solidFill>
                  <a:schemeClr val="accent6"/>
                </a:solidFill>
              </a:rPr>
              <a:t>Spaghetti Plot</a:t>
            </a:r>
          </a:p>
        </p:txBody>
      </p:sp>
      <p:graphicFrame>
        <p:nvGraphicFramePr>
          <p:cNvPr id="21" name="Content Placeholder 6">
            <a:extLst>
              <a:ext uri="{FF2B5EF4-FFF2-40B4-BE49-F238E27FC236}">
                <a16:creationId xmlns:a16="http://schemas.microsoft.com/office/drawing/2014/main" id="{4B5D4F6E-1988-A6C4-E74B-F0EE38677D76}"/>
              </a:ext>
            </a:extLst>
          </p:cNvPr>
          <p:cNvGraphicFramePr>
            <a:graphicFrameLocks/>
          </p:cNvGraphicFramePr>
          <p:nvPr>
            <p:extLst>
              <p:ext uri="{D42A27DB-BD31-4B8C-83A1-F6EECF244321}">
                <p14:modId xmlns:p14="http://schemas.microsoft.com/office/powerpoint/2010/main" val="3204300995"/>
              </p:ext>
            </p:extLst>
          </p:nvPr>
        </p:nvGraphicFramePr>
        <p:xfrm>
          <a:off x="5379666" y="2697878"/>
          <a:ext cx="6537679" cy="26193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040427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21"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pic>
        <p:nvPicPr>
          <p:cNvPr id="14" name="Content Placeholder 13" descr="A graph showing the growth of the age&#10;&#10;AI-generated content may be incorrect.">
            <a:extLst>
              <a:ext uri="{FF2B5EF4-FFF2-40B4-BE49-F238E27FC236}">
                <a16:creationId xmlns:a16="http://schemas.microsoft.com/office/drawing/2014/main" id="{2F7D5992-C31A-CA75-D045-7E079C9DFE0F}"/>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5697416" y="2218330"/>
            <a:ext cx="5544560" cy="3168320"/>
          </a:xfrm>
        </p:spPr>
      </p:pic>
      <p:sp>
        <p:nvSpPr>
          <p:cNvPr id="9" name="Title 8">
            <a:extLst>
              <a:ext uri="{FF2B5EF4-FFF2-40B4-BE49-F238E27FC236}">
                <a16:creationId xmlns:a16="http://schemas.microsoft.com/office/drawing/2014/main" id="{5AB6D40A-2A0A-AF3D-8CF7-3ECD37765637}"/>
              </a:ext>
            </a:extLst>
          </p:cNvPr>
          <p:cNvSpPr>
            <a:spLocks noGrp="1"/>
          </p:cNvSpPr>
          <p:nvPr>
            <p:ph type="title"/>
          </p:nvPr>
        </p:nvSpPr>
        <p:spPr>
          <a:xfrm>
            <a:off x="594360" y="1158395"/>
            <a:ext cx="9778365" cy="700439"/>
          </a:xfrm>
        </p:spPr>
        <p:txBody>
          <a:bodyPr/>
          <a:lstStyle/>
          <a:p>
            <a:r>
              <a:rPr lang="en-US" dirty="0"/>
              <a:t>Exploratory Findings (II)</a:t>
            </a:r>
          </a:p>
        </p:txBody>
      </p:sp>
      <p:sp>
        <p:nvSpPr>
          <p:cNvPr id="6" name="Title 8">
            <a:extLst>
              <a:ext uri="{FF2B5EF4-FFF2-40B4-BE49-F238E27FC236}">
                <a16:creationId xmlns:a16="http://schemas.microsoft.com/office/drawing/2014/main" id="{BD72D967-F5F1-175D-9DBB-EE6323C932BE}"/>
              </a:ext>
            </a:extLst>
          </p:cNvPr>
          <p:cNvSpPr txBox="1">
            <a:spLocks/>
          </p:cNvSpPr>
          <p:nvPr/>
        </p:nvSpPr>
        <p:spPr>
          <a:xfrm>
            <a:off x="568939" y="1263993"/>
            <a:ext cx="9778365" cy="700439"/>
          </a:xfrm>
          <a:prstGeom prst="rect">
            <a:avLst/>
          </a:prstGeom>
        </p:spPr>
        <p:txBody>
          <a:bodyPr vert="horz" lIns="0" tIns="0" rIns="0" bIns="0" rtlCol="0" anchor="b" anchorCtr="0">
            <a:noAutofit/>
          </a:bodyPr>
          <a:lst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800" dirty="0"/>
          </a:p>
        </p:txBody>
      </p:sp>
      <p:sp>
        <p:nvSpPr>
          <p:cNvPr id="15" name="Slide Number Placeholder 14">
            <a:extLst>
              <a:ext uri="{FF2B5EF4-FFF2-40B4-BE49-F238E27FC236}">
                <a16:creationId xmlns:a16="http://schemas.microsoft.com/office/drawing/2014/main" id="{400AE449-51F6-D618-1AF7-57777AD6A701}"/>
              </a:ext>
            </a:extLst>
          </p:cNvPr>
          <p:cNvSpPr>
            <a:spLocks noGrp="1"/>
          </p:cNvSpPr>
          <p:nvPr>
            <p:ph type="sldNum" sz="quarter" idx="12"/>
          </p:nvPr>
        </p:nvSpPr>
        <p:spPr/>
        <p:txBody>
          <a:bodyPr/>
          <a:lstStyle/>
          <a:p>
            <a:fld id="{294A09A9-5501-47C1-A89A-A340965A2BE2}" type="slidenum">
              <a:rPr lang="en-US" smtClean="0"/>
              <a:pPr/>
              <a:t>6</a:t>
            </a:fld>
            <a:endParaRPr lang="en-US" dirty="0">
              <a:latin typeface="+mn-lt"/>
            </a:endParaRPr>
          </a:p>
        </p:txBody>
      </p:sp>
      <p:sp>
        <p:nvSpPr>
          <p:cNvPr id="18" name="TextBox 17">
            <a:extLst>
              <a:ext uri="{FF2B5EF4-FFF2-40B4-BE49-F238E27FC236}">
                <a16:creationId xmlns:a16="http://schemas.microsoft.com/office/drawing/2014/main" id="{B9F6AE61-A180-7195-6725-57243D0AD050}"/>
              </a:ext>
            </a:extLst>
          </p:cNvPr>
          <p:cNvSpPr txBox="1"/>
          <p:nvPr/>
        </p:nvSpPr>
        <p:spPr>
          <a:xfrm>
            <a:off x="6290862" y="5393952"/>
            <a:ext cx="4357668" cy="400110"/>
          </a:xfrm>
          <a:prstGeom prst="rect">
            <a:avLst/>
          </a:prstGeom>
          <a:noFill/>
        </p:spPr>
        <p:txBody>
          <a:bodyPr wrap="none" rtlCol="0">
            <a:spAutoFit/>
          </a:bodyPr>
          <a:lstStyle/>
          <a:p>
            <a:pPr algn="ctr"/>
            <a:r>
              <a:rPr lang="en-US" sz="2000" b="1" dirty="0">
                <a:solidFill>
                  <a:schemeClr val="accent6"/>
                </a:solidFill>
              </a:rPr>
              <a:t>Mean Income over Age by Employment</a:t>
            </a:r>
          </a:p>
        </p:txBody>
      </p:sp>
      <p:graphicFrame>
        <p:nvGraphicFramePr>
          <p:cNvPr id="7" name="Content Placeholder 6">
            <a:extLst>
              <a:ext uri="{FF2B5EF4-FFF2-40B4-BE49-F238E27FC236}">
                <a16:creationId xmlns:a16="http://schemas.microsoft.com/office/drawing/2014/main" id="{78B8D11E-4073-D87D-89DF-136E2D909444}"/>
              </a:ext>
            </a:extLst>
          </p:cNvPr>
          <p:cNvGraphicFramePr>
            <a:graphicFrameLocks noGrp="1"/>
          </p:cNvGraphicFramePr>
          <p:nvPr>
            <p:ph sz="quarter" idx="15"/>
            <p:extLst>
              <p:ext uri="{D42A27DB-BD31-4B8C-83A1-F6EECF244321}">
                <p14:modId xmlns:p14="http://schemas.microsoft.com/office/powerpoint/2010/main" val="2989654380"/>
              </p:ext>
            </p:extLst>
          </p:nvPr>
        </p:nvGraphicFramePr>
        <p:xfrm>
          <a:off x="597137" y="2453675"/>
          <a:ext cx="4999795" cy="35753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3905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Graphic spid="7" grpId="0">
        <p:bldAsOne/>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15DF6-DE2E-45CB-BC42-FEE697FDDC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D9A56E-D717-D20E-4302-4437FB1ED931}"/>
              </a:ext>
            </a:extLst>
          </p:cNvPr>
          <p:cNvSpPr>
            <a:spLocks noGrp="1"/>
          </p:cNvSpPr>
          <p:nvPr>
            <p:ph type="title"/>
          </p:nvPr>
        </p:nvSpPr>
        <p:spPr>
          <a:xfrm>
            <a:off x="594360" y="584005"/>
            <a:ext cx="10972800" cy="1188720"/>
          </a:xfrm>
        </p:spPr>
        <p:txBody>
          <a:bodyPr/>
          <a:lstStyle/>
          <a:p>
            <a:r>
              <a:rPr lang="en-US" dirty="0"/>
              <a:t> Modeling Framework</a:t>
            </a:r>
          </a:p>
        </p:txBody>
      </p:sp>
      <p:graphicFrame>
        <p:nvGraphicFramePr>
          <p:cNvPr id="4" name="Table Placeholder 3">
            <a:extLst>
              <a:ext uri="{FF2B5EF4-FFF2-40B4-BE49-F238E27FC236}">
                <a16:creationId xmlns:a16="http://schemas.microsoft.com/office/drawing/2014/main" id="{042EC017-7FF6-1928-E041-2A17E29398E0}"/>
              </a:ext>
            </a:extLst>
          </p:cNvPr>
          <p:cNvGraphicFramePr>
            <a:graphicFrameLocks noGrp="1"/>
          </p:cNvGraphicFramePr>
          <p:nvPr>
            <p:ph type="tbl" sz="quarter" idx="10"/>
            <p:extLst>
              <p:ext uri="{D42A27DB-BD31-4B8C-83A1-F6EECF244321}">
                <p14:modId xmlns:p14="http://schemas.microsoft.com/office/powerpoint/2010/main" val="351927345"/>
              </p:ext>
            </p:extLst>
          </p:nvPr>
        </p:nvGraphicFramePr>
        <p:xfrm>
          <a:off x="1133648" y="2920955"/>
          <a:ext cx="10143953" cy="3658916"/>
        </p:xfrm>
        <a:graphic>
          <a:graphicData uri="http://schemas.openxmlformats.org/drawingml/2006/table">
            <a:tbl>
              <a:tblPr firstRow="1" bandRow="1">
                <a:tableStyleId>{69CF1AB2-1976-4502-BF36-3FF5EA218861}</a:tableStyleId>
              </a:tblPr>
              <a:tblGrid>
                <a:gridCol w="1365176">
                  <a:extLst>
                    <a:ext uri="{9D8B030D-6E8A-4147-A177-3AD203B41FA5}">
                      <a16:colId xmlns:a16="http://schemas.microsoft.com/office/drawing/2014/main" val="2382218087"/>
                    </a:ext>
                  </a:extLst>
                </a:gridCol>
                <a:gridCol w="5105134">
                  <a:extLst>
                    <a:ext uri="{9D8B030D-6E8A-4147-A177-3AD203B41FA5}">
                      <a16:colId xmlns:a16="http://schemas.microsoft.com/office/drawing/2014/main" val="3953468724"/>
                    </a:ext>
                  </a:extLst>
                </a:gridCol>
                <a:gridCol w="2310091">
                  <a:extLst>
                    <a:ext uri="{9D8B030D-6E8A-4147-A177-3AD203B41FA5}">
                      <a16:colId xmlns:a16="http://schemas.microsoft.com/office/drawing/2014/main" val="1818265922"/>
                    </a:ext>
                  </a:extLst>
                </a:gridCol>
                <a:gridCol w="1363552">
                  <a:extLst>
                    <a:ext uri="{9D8B030D-6E8A-4147-A177-3AD203B41FA5}">
                      <a16:colId xmlns:a16="http://schemas.microsoft.com/office/drawing/2014/main" val="677606721"/>
                    </a:ext>
                  </a:extLst>
                </a:gridCol>
              </a:tblGrid>
              <a:tr h="594689">
                <a:tc>
                  <a:txBody>
                    <a:bodyPr/>
                    <a:lstStyle/>
                    <a:p>
                      <a:pPr algn="ctr"/>
                      <a:r>
                        <a:rPr lang="en-US" b="0" dirty="0">
                          <a:solidFill>
                            <a:schemeClr val="bg1"/>
                          </a:solidFill>
                          <a:latin typeface="+mj-lt"/>
                        </a:rPr>
                        <a:t>Model</a:t>
                      </a:r>
                    </a:p>
                  </a:txBody>
                  <a:tcPr anchor="ctr"/>
                </a:tc>
                <a:tc>
                  <a:txBody>
                    <a:bodyPr/>
                    <a:lstStyle/>
                    <a:p>
                      <a:pPr algn="ctr"/>
                      <a:r>
                        <a:rPr lang="en-US" b="0" dirty="0">
                          <a:solidFill>
                            <a:schemeClr val="bg1"/>
                          </a:solidFill>
                          <a:latin typeface="+mj-lt"/>
                        </a:rPr>
                        <a:t>Specification (Fixed Effects)</a:t>
                      </a:r>
                    </a:p>
                  </a:txBody>
                  <a:tcPr anchor="ctr"/>
                </a:tc>
                <a:tc>
                  <a:txBody>
                    <a:bodyPr/>
                    <a:lstStyle/>
                    <a:p>
                      <a:pPr algn="ctr"/>
                      <a:r>
                        <a:rPr lang="en-US" b="0" dirty="0">
                          <a:latin typeface="+mj-lt"/>
                        </a:rPr>
                        <a:t>Random Effects</a:t>
                      </a:r>
                      <a:endParaRPr lang="en-US" b="0" dirty="0">
                        <a:solidFill>
                          <a:schemeClr val="bg1"/>
                        </a:solidFill>
                        <a:latin typeface="+mj-lt"/>
                      </a:endParaRPr>
                    </a:p>
                  </a:txBody>
                  <a:tcPr anchor="ctr"/>
                </a:tc>
                <a:tc>
                  <a:txBody>
                    <a:bodyPr/>
                    <a:lstStyle/>
                    <a:p>
                      <a:pPr algn="ctr"/>
                      <a:r>
                        <a:rPr lang="en-US" b="0" dirty="0" err="1">
                          <a:solidFill>
                            <a:schemeClr val="bg1"/>
                          </a:solidFill>
                          <a:latin typeface="+mj-lt"/>
                        </a:rPr>
                        <a:t>npar</a:t>
                      </a:r>
                      <a:endParaRPr lang="en-US" b="0" dirty="0">
                        <a:solidFill>
                          <a:schemeClr val="bg1"/>
                        </a:solidFill>
                        <a:latin typeface="+mj-lt"/>
                      </a:endParaRPr>
                    </a:p>
                  </a:txBody>
                  <a:tcPr anchor="ctr"/>
                </a:tc>
                <a:extLst>
                  <a:ext uri="{0D108BD9-81ED-4DB2-BD59-A6C34878D82A}">
                    <a16:rowId xmlns:a16="http://schemas.microsoft.com/office/drawing/2014/main" val="2857107962"/>
                  </a:ext>
                </a:extLst>
              </a:tr>
              <a:tr h="594689">
                <a:tc>
                  <a:txBody>
                    <a:bodyPr/>
                    <a:lstStyle/>
                    <a:p>
                      <a:pPr algn="ctr"/>
                      <a:r>
                        <a:rPr lang="en-US" dirty="0"/>
                        <a:t>1</a:t>
                      </a:r>
                    </a:p>
                  </a:txBody>
                  <a:tcPr anchor="ctr"/>
                </a:tc>
                <a:tc>
                  <a:txBody>
                    <a:bodyPr/>
                    <a:lstStyle/>
                    <a:p>
                      <a:pPr algn="ctr"/>
                      <a:r>
                        <a:rPr lang="en-US" dirty="0"/>
                        <a:t>Age</a:t>
                      </a:r>
                    </a:p>
                  </a:txBody>
                  <a:tcPr anchor="ctr"/>
                </a:tc>
                <a:tc>
                  <a:txBody>
                    <a:bodyPr/>
                    <a:lstStyle/>
                    <a:p>
                      <a:pPr algn="ctr"/>
                      <a:r>
                        <a:rPr lang="en-US" dirty="0"/>
                        <a:t>Intercept only</a:t>
                      </a:r>
                    </a:p>
                  </a:txBody>
                  <a:tcPr anchor="ctr"/>
                </a:tc>
                <a:tc>
                  <a:txBody>
                    <a:bodyPr/>
                    <a:lstStyle/>
                    <a:p>
                      <a:pPr algn="ctr"/>
                      <a:r>
                        <a:rPr lang="en-US" dirty="0"/>
                        <a:t>2</a:t>
                      </a:r>
                    </a:p>
                  </a:txBody>
                  <a:tcPr anchor="ctr"/>
                </a:tc>
                <a:extLst>
                  <a:ext uri="{0D108BD9-81ED-4DB2-BD59-A6C34878D82A}">
                    <a16:rowId xmlns:a16="http://schemas.microsoft.com/office/drawing/2014/main" val="1671386868"/>
                  </a:ext>
                </a:extLst>
              </a:tr>
              <a:tr h="594689">
                <a:tc>
                  <a:txBody>
                    <a:bodyPr/>
                    <a:lstStyle/>
                    <a:p>
                      <a:pPr algn="ctr"/>
                      <a:r>
                        <a:rPr lang="en-US" dirty="0"/>
                        <a:t>2</a:t>
                      </a:r>
                    </a:p>
                  </a:txBody>
                  <a:tcPr anchor="ctr"/>
                </a:tc>
                <a:tc>
                  <a:txBody>
                    <a:bodyPr/>
                    <a:lstStyle/>
                    <a:p>
                      <a:pPr algn="ctr"/>
                      <a:r>
                        <a:rPr lang="en-US" dirty="0"/>
                        <a:t>Model 1 + Employment status</a:t>
                      </a:r>
                    </a:p>
                  </a:txBody>
                  <a:tcPr anchor="ctr"/>
                </a:tc>
                <a:tc>
                  <a:txBody>
                    <a:bodyPr/>
                    <a:lstStyle/>
                    <a:p>
                      <a:pPr algn="ctr"/>
                      <a:r>
                        <a:rPr lang="en-US" dirty="0"/>
                        <a:t>Intercept only</a:t>
                      </a:r>
                      <a:endParaRPr lang="en-US" dirty="0">
                        <a:effectLst/>
                      </a:endParaRPr>
                    </a:p>
                  </a:txBody>
                  <a:tcPr anchor="ctr"/>
                </a:tc>
                <a:tc>
                  <a:txBody>
                    <a:bodyPr/>
                    <a:lstStyle/>
                    <a:p>
                      <a:pPr algn="ctr"/>
                      <a:r>
                        <a:rPr lang="en-US" dirty="0">
                          <a:effectLst/>
                        </a:rPr>
                        <a:t>3</a:t>
                      </a:r>
                    </a:p>
                  </a:txBody>
                  <a:tcPr anchor="ctr"/>
                </a:tc>
                <a:extLst>
                  <a:ext uri="{0D108BD9-81ED-4DB2-BD59-A6C34878D82A}">
                    <a16:rowId xmlns:a16="http://schemas.microsoft.com/office/drawing/2014/main" val="380626418"/>
                  </a:ext>
                </a:extLst>
              </a:tr>
              <a:tr h="594689">
                <a:tc>
                  <a:txBody>
                    <a:bodyPr/>
                    <a:lstStyle/>
                    <a:p>
                      <a:pPr algn="ctr"/>
                      <a:r>
                        <a:rPr lang="en-US" dirty="0"/>
                        <a:t>3</a:t>
                      </a:r>
                    </a:p>
                  </a:txBody>
                  <a:tcPr anchor="ctr"/>
                </a:tc>
                <a:tc>
                  <a:txBody>
                    <a:bodyPr/>
                    <a:lstStyle/>
                    <a:p>
                      <a:pPr algn="ctr"/>
                      <a:r>
                        <a:rPr lang="en-US" dirty="0"/>
                        <a:t>Model 2 +  Age × Employment status interaction</a:t>
                      </a:r>
                    </a:p>
                  </a:txBody>
                  <a:tcPr anchor="ctr"/>
                </a:tc>
                <a:tc>
                  <a:txBody>
                    <a:bodyPr/>
                    <a:lstStyle/>
                    <a:p>
                      <a:pPr algn="ctr"/>
                      <a:r>
                        <a:rPr lang="en-US" dirty="0"/>
                        <a:t>Intercept only</a:t>
                      </a:r>
                    </a:p>
                  </a:txBody>
                  <a:tcPr anchor="ctr"/>
                </a:tc>
                <a:tc>
                  <a:txBody>
                    <a:bodyPr/>
                    <a:lstStyle/>
                    <a:p>
                      <a:pPr algn="ctr"/>
                      <a:r>
                        <a:rPr lang="en-US" dirty="0"/>
                        <a:t>4</a:t>
                      </a:r>
                    </a:p>
                  </a:txBody>
                  <a:tcPr anchor="ctr"/>
                </a:tc>
                <a:extLst>
                  <a:ext uri="{0D108BD9-81ED-4DB2-BD59-A6C34878D82A}">
                    <a16:rowId xmlns:a16="http://schemas.microsoft.com/office/drawing/2014/main" val="2132482967"/>
                  </a:ext>
                </a:extLst>
              </a:tr>
              <a:tr h="594689">
                <a:tc>
                  <a:txBody>
                    <a:bodyPr/>
                    <a:lstStyle/>
                    <a:p>
                      <a:pPr algn="ctr"/>
                      <a:r>
                        <a:rPr lang="en-US" dirty="0"/>
                        <a:t>4</a:t>
                      </a:r>
                    </a:p>
                  </a:txBody>
                  <a:tcPr anchor="ctr"/>
                </a:tc>
                <a:tc>
                  <a:txBody>
                    <a:bodyPr/>
                    <a:lstStyle/>
                    <a:p>
                      <a:pPr algn="ctr"/>
                      <a:r>
                        <a:rPr lang="en-US" dirty="0"/>
                        <a:t>Model 3 + AFQT + Education + Annual hours worked (÷100)</a:t>
                      </a:r>
                    </a:p>
                  </a:txBody>
                  <a:tcPr anchor="ctr"/>
                </a:tc>
                <a:tc>
                  <a:txBody>
                    <a:bodyPr/>
                    <a:lstStyle/>
                    <a:p>
                      <a:pPr algn="ctr"/>
                      <a:r>
                        <a:rPr lang="en-US" dirty="0"/>
                        <a:t>Intercept + random slope on age</a:t>
                      </a:r>
                      <a:endParaRPr lang="en-US" dirty="0">
                        <a:effectLst/>
                      </a:endParaRPr>
                    </a:p>
                  </a:txBody>
                  <a:tcPr anchor="ctr"/>
                </a:tc>
                <a:tc>
                  <a:txBody>
                    <a:bodyPr/>
                    <a:lstStyle/>
                    <a:p>
                      <a:pPr algn="ctr"/>
                      <a:r>
                        <a:rPr lang="en-US" dirty="0">
                          <a:effectLst/>
                        </a:rPr>
                        <a:t>7</a:t>
                      </a:r>
                    </a:p>
                  </a:txBody>
                  <a:tcPr anchor="ctr"/>
                </a:tc>
                <a:extLst>
                  <a:ext uri="{0D108BD9-81ED-4DB2-BD59-A6C34878D82A}">
                    <a16:rowId xmlns:a16="http://schemas.microsoft.com/office/drawing/2014/main" val="3936251906"/>
                  </a:ext>
                </a:extLst>
              </a:tr>
              <a:tr h="594689">
                <a:tc>
                  <a:txBody>
                    <a:bodyPr/>
                    <a:lstStyle/>
                    <a:p>
                      <a:pPr algn="ctr"/>
                      <a:r>
                        <a:rPr lang="en-US" dirty="0"/>
                        <a:t>5</a:t>
                      </a:r>
                    </a:p>
                  </a:txBody>
                  <a:tcPr anchor="ctr"/>
                </a:tc>
                <a:tc>
                  <a:txBody>
                    <a:bodyPr/>
                    <a:lstStyle/>
                    <a:p>
                      <a:pPr algn="ctr"/>
                      <a:r>
                        <a:rPr lang="en-US" dirty="0"/>
                        <a:t>Model 4 + Race + Gender + Cohort</a:t>
                      </a:r>
                    </a:p>
                  </a:txBody>
                  <a:tcPr anchor="ctr"/>
                </a:tc>
                <a:tc>
                  <a:txBody>
                    <a:bodyPr/>
                    <a:lstStyle/>
                    <a:p>
                      <a:pPr algn="ctr"/>
                      <a:r>
                        <a:rPr lang="en-US" dirty="0"/>
                        <a:t>Intercept + random slope on age</a:t>
                      </a:r>
                    </a:p>
                  </a:txBody>
                  <a:tcPr anchor="ctr"/>
                </a:tc>
                <a:tc>
                  <a:txBody>
                    <a:bodyPr/>
                    <a:lstStyle/>
                    <a:p>
                      <a:pPr algn="ctr"/>
                      <a:r>
                        <a:rPr lang="en-US" dirty="0"/>
                        <a:t>11</a:t>
                      </a:r>
                    </a:p>
                  </a:txBody>
                  <a:tcPr anchor="ctr"/>
                </a:tc>
                <a:extLst>
                  <a:ext uri="{0D108BD9-81ED-4DB2-BD59-A6C34878D82A}">
                    <a16:rowId xmlns:a16="http://schemas.microsoft.com/office/drawing/2014/main" val="568537164"/>
                  </a:ext>
                </a:extLst>
              </a:tr>
            </a:tbl>
          </a:graphicData>
        </a:graphic>
      </p:graphicFrame>
      <p:sp>
        <p:nvSpPr>
          <p:cNvPr id="2" name="TextBox 1">
            <a:extLst>
              <a:ext uri="{FF2B5EF4-FFF2-40B4-BE49-F238E27FC236}">
                <a16:creationId xmlns:a16="http://schemas.microsoft.com/office/drawing/2014/main" id="{EA9D63B4-907F-963A-262F-2FB6A25BC23B}"/>
              </a:ext>
            </a:extLst>
          </p:cNvPr>
          <p:cNvSpPr txBox="1"/>
          <p:nvPr/>
        </p:nvSpPr>
        <p:spPr>
          <a:xfrm>
            <a:off x="594360" y="2363629"/>
            <a:ext cx="7144135" cy="400110"/>
          </a:xfrm>
          <a:prstGeom prst="rect">
            <a:avLst/>
          </a:prstGeom>
          <a:noFill/>
        </p:spPr>
        <p:txBody>
          <a:bodyPr wrap="none" rtlCol="0">
            <a:spAutoFit/>
          </a:bodyPr>
          <a:lstStyle/>
          <a:p>
            <a:pPr marL="285750" indent="-285750">
              <a:buFont typeface="Arial" panose="020B0604020202020204" pitchFamily="34" charset="0"/>
              <a:buChar char="•"/>
            </a:pPr>
            <a:r>
              <a:rPr lang="en-US" sz="2000" b="1" dirty="0" err="1">
                <a:solidFill>
                  <a:schemeClr val="bg1"/>
                </a:solidFill>
                <a:effectLst/>
                <a:latin typeface="Aptos" panose="020B0004020202020204" pitchFamily="34" charset="0"/>
                <a:ea typeface="Aptos" panose="020B0004020202020204" pitchFamily="34" charset="0"/>
                <a:cs typeface="Times New Roman" panose="02020603050405020304" pitchFamily="18" charset="0"/>
              </a:rPr>
              <a:t>WeMix</a:t>
            </a:r>
            <a:r>
              <a:rPr lang="en-US" sz="20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mixed</a:t>
            </a:r>
            <a:r>
              <a:rPr lang="en-US" sz="2000" b="1" dirty="0">
                <a:solidFill>
                  <a:schemeClr val="bg1"/>
                </a:solidFill>
                <a:effectLst/>
                <a:latin typeface="Cambria Math" panose="02040503050406030204" pitchFamily="18" charset="0"/>
                <a:ea typeface="Aptos" panose="020B0004020202020204" pitchFamily="34" charset="0"/>
                <a:cs typeface="Cambria Math" panose="02040503050406030204" pitchFamily="18" charset="0"/>
              </a:rPr>
              <a:t>‐</a:t>
            </a:r>
            <a:r>
              <a:rPr lang="en-US" sz="20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effects models with survey weights </a:t>
            </a:r>
            <a:r>
              <a:rPr lang="en-US" sz="2000" b="1" dirty="0">
                <a:solidFill>
                  <a:schemeClr val="bg1"/>
                </a:solidFill>
                <a:effectLst/>
                <a:latin typeface="Aptos" panose="020B0004020202020204" pitchFamily="34" charset="0"/>
                <a:ea typeface="Aptos" panose="020B0004020202020204" pitchFamily="34" charset="0"/>
                <a:cs typeface="Aptos" panose="020B0004020202020204" pitchFamily="34" charset="0"/>
              </a:rPr>
              <a:t>—</a:t>
            </a:r>
            <a:r>
              <a:rPr lang="en-US" sz="2000" b="1"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why?</a:t>
            </a:r>
            <a:endParaRPr lang="en-US" sz="2000" b="1" dirty="0">
              <a:solidFill>
                <a:schemeClr val="bg1"/>
              </a:solidFill>
            </a:endParaRPr>
          </a:p>
        </p:txBody>
      </p:sp>
      <p:sp>
        <p:nvSpPr>
          <p:cNvPr id="5" name="Slide Number Placeholder 4">
            <a:extLst>
              <a:ext uri="{FF2B5EF4-FFF2-40B4-BE49-F238E27FC236}">
                <a16:creationId xmlns:a16="http://schemas.microsoft.com/office/drawing/2014/main" id="{F3E4D44D-91A4-2A62-8F6C-4FC4B8F6EAE8}"/>
              </a:ext>
            </a:extLst>
          </p:cNvPr>
          <p:cNvSpPr>
            <a:spLocks noGrp="1"/>
          </p:cNvSpPr>
          <p:nvPr>
            <p:ph type="sldNum" sz="quarter" idx="12"/>
          </p:nvPr>
        </p:nvSpPr>
        <p:spPr/>
        <p:txBody>
          <a:bodyPr/>
          <a:lstStyle/>
          <a:p>
            <a:fld id="{294A09A9-5501-47C1-A89A-A340965A2BE2}" type="slidenum">
              <a:rPr lang="en-US" smtClean="0"/>
              <a:pPr/>
              <a:t>7</a:t>
            </a:fld>
            <a:endParaRPr lang="en-US" dirty="0">
              <a:latin typeface="+mn-lt"/>
            </a:endParaRPr>
          </a:p>
        </p:txBody>
      </p:sp>
    </p:spTree>
    <p:extLst>
      <p:ext uri="{BB962C8B-B14F-4D97-AF65-F5344CB8AC3E}">
        <p14:creationId xmlns:p14="http://schemas.microsoft.com/office/powerpoint/2010/main" val="77427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6834F-2E42-0BA8-040D-6ED6560236E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973275-F825-78CB-8AA0-8D2CC452BC79}"/>
              </a:ext>
            </a:extLst>
          </p:cNvPr>
          <p:cNvSpPr>
            <a:spLocks noGrp="1"/>
          </p:cNvSpPr>
          <p:nvPr>
            <p:ph type="title"/>
          </p:nvPr>
        </p:nvSpPr>
        <p:spPr>
          <a:xfrm>
            <a:off x="594360" y="584005"/>
            <a:ext cx="10972800" cy="1188720"/>
          </a:xfrm>
        </p:spPr>
        <p:txBody>
          <a:bodyPr/>
          <a:lstStyle/>
          <a:p>
            <a:r>
              <a:rPr lang="en-US" dirty="0"/>
              <a:t> Modeling Comparison</a:t>
            </a:r>
          </a:p>
        </p:txBody>
      </p:sp>
      <p:graphicFrame>
        <p:nvGraphicFramePr>
          <p:cNvPr id="4" name="Table Placeholder 3">
            <a:extLst>
              <a:ext uri="{FF2B5EF4-FFF2-40B4-BE49-F238E27FC236}">
                <a16:creationId xmlns:a16="http://schemas.microsoft.com/office/drawing/2014/main" id="{37F95EEE-5599-1943-6D73-8FE48F47C6E4}"/>
              </a:ext>
            </a:extLst>
          </p:cNvPr>
          <p:cNvGraphicFramePr>
            <a:graphicFrameLocks noGrp="1"/>
          </p:cNvGraphicFramePr>
          <p:nvPr>
            <p:ph type="tbl" sz="quarter" idx="10"/>
            <p:extLst>
              <p:ext uri="{D42A27DB-BD31-4B8C-83A1-F6EECF244321}">
                <p14:modId xmlns:p14="http://schemas.microsoft.com/office/powerpoint/2010/main" val="100101969"/>
              </p:ext>
            </p:extLst>
          </p:nvPr>
        </p:nvGraphicFramePr>
        <p:xfrm>
          <a:off x="594360" y="2430754"/>
          <a:ext cx="10859702" cy="3658916"/>
        </p:xfrm>
        <a:graphic>
          <a:graphicData uri="http://schemas.openxmlformats.org/drawingml/2006/table">
            <a:tbl>
              <a:tblPr firstRow="1" bandRow="1">
                <a:tableStyleId>{69CF1AB2-1976-4502-BF36-3FF5EA218861}</a:tableStyleId>
              </a:tblPr>
              <a:tblGrid>
                <a:gridCol w="884420">
                  <a:extLst>
                    <a:ext uri="{9D8B030D-6E8A-4147-A177-3AD203B41FA5}">
                      <a16:colId xmlns:a16="http://schemas.microsoft.com/office/drawing/2014/main" val="2382218087"/>
                    </a:ext>
                  </a:extLst>
                </a:gridCol>
                <a:gridCol w="3920535">
                  <a:extLst>
                    <a:ext uri="{9D8B030D-6E8A-4147-A177-3AD203B41FA5}">
                      <a16:colId xmlns:a16="http://schemas.microsoft.com/office/drawing/2014/main" val="3953468724"/>
                    </a:ext>
                  </a:extLst>
                </a:gridCol>
                <a:gridCol w="883367">
                  <a:extLst>
                    <a:ext uri="{9D8B030D-6E8A-4147-A177-3AD203B41FA5}">
                      <a16:colId xmlns:a16="http://schemas.microsoft.com/office/drawing/2014/main" val="677606721"/>
                    </a:ext>
                  </a:extLst>
                </a:gridCol>
                <a:gridCol w="1509086">
                  <a:extLst>
                    <a:ext uri="{9D8B030D-6E8A-4147-A177-3AD203B41FA5}">
                      <a16:colId xmlns:a16="http://schemas.microsoft.com/office/drawing/2014/main" val="4277526474"/>
                    </a:ext>
                  </a:extLst>
                </a:gridCol>
                <a:gridCol w="1361858">
                  <a:extLst>
                    <a:ext uri="{9D8B030D-6E8A-4147-A177-3AD203B41FA5}">
                      <a16:colId xmlns:a16="http://schemas.microsoft.com/office/drawing/2014/main" val="2438884888"/>
                    </a:ext>
                  </a:extLst>
                </a:gridCol>
                <a:gridCol w="1209575">
                  <a:extLst>
                    <a:ext uri="{9D8B030D-6E8A-4147-A177-3AD203B41FA5}">
                      <a16:colId xmlns:a16="http://schemas.microsoft.com/office/drawing/2014/main" val="1584576205"/>
                    </a:ext>
                  </a:extLst>
                </a:gridCol>
                <a:gridCol w="1090861">
                  <a:extLst>
                    <a:ext uri="{9D8B030D-6E8A-4147-A177-3AD203B41FA5}">
                      <a16:colId xmlns:a16="http://schemas.microsoft.com/office/drawing/2014/main" val="994934022"/>
                    </a:ext>
                  </a:extLst>
                </a:gridCol>
              </a:tblGrid>
              <a:tr h="594689">
                <a:tc>
                  <a:txBody>
                    <a:bodyPr/>
                    <a:lstStyle/>
                    <a:p>
                      <a:pPr algn="ctr"/>
                      <a:r>
                        <a:rPr lang="en-US" b="0" dirty="0">
                          <a:solidFill>
                            <a:schemeClr val="bg1"/>
                          </a:solidFill>
                          <a:latin typeface="+mj-lt"/>
                        </a:rPr>
                        <a:t>Model</a:t>
                      </a:r>
                    </a:p>
                  </a:txBody>
                  <a:tcPr anchor="ctr"/>
                </a:tc>
                <a:tc>
                  <a:txBody>
                    <a:bodyPr/>
                    <a:lstStyle/>
                    <a:p>
                      <a:pPr algn="ctr"/>
                      <a:r>
                        <a:rPr lang="en-US" b="0" dirty="0">
                          <a:solidFill>
                            <a:schemeClr val="bg1"/>
                          </a:solidFill>
                          <a:latin typeface="+mj-lt"/>
                        </a:rPr>
                        <a:t>Specification (Fixed Effects)</a:t>
                      </a:r>
                    </a:p>
                  </a:txBody>
                  <a:tcPr anchor="ctr"/>
                </a:tc>
                <a:tc>
                  <a:txBody>
                    <a:bodyPr/>
                    <a:lstStyle/>
                    <a:p>
                      <a:pPr algn="ctr"/>
                      <a:r>
                        <a:rPr lang="en-US" b="0" dirty="0" err="1">
                          <a:solidFill>
                            <a:schemeClr val="bg1"/>
                          </a:solidFill>
                          <a:latin typeface="+mj-lt"/>
                        </a:rPr>
                        <a:t>npar</a:t>
                      </a:r>
                      <a:endParaRPr lang="en-US" b="0" dirty="0">
                        <a:solidFill>
                          <a:schemeClr val="bg1"/>
                        </a:solidFill>
                        <a:latin typeface="+mj-lt"/>
                      </a:endParaRPr>
                    </a:p>
                  </a:txBody>
                  <a:tcPr anchor="ctr"/>
                </a:tc>
                <a:tc>
                  <a:txBody>
                    <a:bodyPr/>
                    <a:lstStyle/>
                    <a:p>
                      <a:pPr algn="ctr"/>
                      <a:r>
                        <a:rPr lang="en-US" b="0" dirty="0">
                          <a:solidFill>
                            <a:schemeClr val="bg1"/>
                          </a:solidFill>
                          <a:latin typeface="+mj-lt"/>
                        </a:rPr>
                        <a:t>AIC</a:t>
                      </a:r>
                    </a:p>
                  </a:txBody>
                  <a:tcPr anchor="ctr"/>
                </a:tc>
                <a:tc>
                  <a:txBody>
                    <a:bodyPr/>
                    <a:lstStyle/>
                    <a:p>
                      <a:pPr algn="ctr"/>
                      <a:r>
                        <a:rPr lang="en-US" b="0" dirty="0">
                          <a:solidFill>
                            <a:schemeClr val="bg1"/>
                          </a:solidFill>
                          <a:latin typeface="+mj-lt"/>
                        </a:rPr>
                        <a:t>BIC</a:t>
                      </a:r>
                    </a:p>
                  </a:txBody>
                  <a:tcPr anchor="ctr"/>
                </a:tc>
                <a:tc>
                  <a:txBody>
                    <a:bodyPr/>
                    <a:lstStyle/>
                    <a:p>
                      <a:pPr algn="ctr"/>
                      <a:r>
                        <a:rPr lang="en-US" sz="1800" b="0" i="0" kern="1200" dirty="0">
                          <a:solidFill>
                            <a:schemeClr val="dk1"/>
                          </a:solidFill>
                          <a:effectLst/>
                          <a:latin typeface="+mj-lt"/>
                          <a:ea typeface="+mn-ea"/>
                          <a:cs typeface="+mn-cs"/>
                        </a:rPr>
                        <a:t>Delta AIC</a:t>
                      </a:r>
                      <a:endParaRPr lang="en-US" b="0" dirty="0">
                        <a:solidFill>
                          <a:schemeClr val="bg1"/>
                        </a:solidFill>
                        <a:latin typeface="+mj-lt"/>
                      </a:endParaRPr>
                    </a:p>
                  </a:txBody>
                  <a:tcPr anchor="ctr"/>
                </a:tc>
                <a:tc>
                  <a:txBody>
                    <a:bodyPr/>
                    <a:lstStyle/>
                    <a:p>
                      <a:pPr algn="ctr"/>
                      <a:r>
                        <a:rPr lang="en-US" b="0" dirty="0">
                          <a:solidFill>
                            <a:schemeClr val="bg1"/>
                          </a:solidFill>
                          <a:latin typeface="+mj-lt"/>
                        </a:rPr>
                        <a:t>weight</a:t>
                      </a:r>
                    </a:p>
                  </a:txBody>
                  <a:tcPr anchor="ctr"/>
                </a:tc>
                <a:extLst>
                  <a:ext uri="{0D108BD9-81ED-4DB2-BD59-A6C34878D82A}">
                    <a16:rowId xmlns:a16="http://schemas.microsoft.com/office/drawing/2014/main" val="2857107962"/>
                  </a:ext>
                </a:extLst>
              </a:tr>
              <a:tr h="594689">
                <a:tc>
                  <a:txBody>
                    <a:bodyPr/>
                    <a:lstStyle/>
                    <a:p>
                      <a:pPr algn="ctr"/>
                      <a:r>
                        <a:rPr lang="en-US" dirty="0"/>
                        <a:t>1</a:t>
                      </a:r>
                    </a:p>
                  </a:txBody>
                  <a:tcPr anchor="ctr"/>
                </a:tc>
                <a:tc>
                  <a:txBody>
                    <a:bodyPr/>
                    <a:lstStyle/>
                    <a:p>
                      <a:pPr algn="ctr"/>
                      <a:r>
                        <a:rPr lang="en-US" dirty="0"/>
                        <a:t>Age</a:t>
                      </a:r>
                    </a:p>
                  </a:txBody>
                  <a:tcPr anchor="ctr"/>
                </a:tc>
                <a:tc>
                  <a:txBody>
                    <a:bodyPr/>
                    <a:lstStyle/>
                    <a:p>
                      <a:pPr algn="ctr"/>
                      <a:r>
                        <a:rPr lang="en-US" dirty="0"/>
                        <a:t>2</a:t>
                      </a:r>
                    </a:p>
                  </a:txBody>
                  <a:tcPr anchor="ctr"/>
                </a:tc>
                <a:tc>
                  <a:txBody>
                    <a:bodyPr/>
                    <a:lstStyle/>
                    <a:p>
                      <a:pPr algn="ctr"/>
                      <a:r>
                        <a:rPr lang="en-US" sz="1800" b="0" i="0" kern="1200" dirty="0">
                          <a:solidFill>
                            <a:schemeClr val="dk1"/>
                          </a:solidFill>
                          <a:effectLst/>
                          <a:latin typeface="+mn-lt"/>
                          <a:ea typeface="+mn-ea"/>
                          <a:cs typeface="+mn-cs"/>
                        </a:rPr>
                        <a:t>1,416,456</a:t>
                      </a:r>
                      <a:endParaRPr lang="en-US" dirty="0"/>
                    </a:p>
                  </a:txBody>
                  <a:tcPr anchor="ctr"/>
                </a:tc>
                <a:tc>
                  <a:txBody>
                    <a:bodyPr/>
                    <a:lstStyle/>
                    <a:p>
                      <a:pPr algn="ctr"/>
                      <a:r>
                        <a:rPr lang="en-US" dirty="0">
                          <a:effectLst/>
                        </a:rPr>
                        <a:t>1,416,477</a:t>
                      </a:r>
                    </a:p>
                  </a:txBody>
                  <a:tcPr anchor="ctr"/>
                </a:tc>
                <a:tc>
                  <a:txBody>
                    <a:bodyPr/>
                    <a:lstStyle/>
                    <a:p>
                      <a:pPr algn="ctr"/>
                      <a:r>
                        <a:rPr lang="en-US" dirty="0">
                          <a:effectLst/>
                        </a:rPr>
                        <a:t>112,269</a:t>
                      </a:r>
                    </a:p>
                  </a:txBody>
                  <a:tcPr anchor="ctr"/>
                </a:tc>
                <a:tc>
                  <a:txBody>
                    <a:bodyPr/>
                    <a:lstStyle/>
                    <a:p>
                      <a:pPr algn="ctr"/>
                      <a:r>
                        <a:rPr lang="en-US" dirty="0">
                          <a:effectLst/>
                        </a:rPr>
                        <a:t>0</a:t>
                      </a:r>
                    </a:p>
                  </a:txBody>
                  <a:tcPr anchor="ctr"/>
                </a:tc>
                <a:extLst>
                  <a:ext uri="{0D108BD9-81ED-4DB2-BD59-A6C34878D82A}">
                    <a16:rowId xmlns:a16="http://schemas.microsoft.com/office/drawing/2014/main" val="1671386868"/>
                  </a:ext>
                </a:extLst>
              </a:tr>
              <a:tr h="594689">
                <a:tc>
                  <a:txBody>
                    <a:bodyPr/>
                    <a:lstStyle/>
                    <a:p>
                      <a:pPr algn="ctr"/>
                      <a:r>
                        <a:rPr lang="en-US" dirty="0"/>
                        <a:t>2</a:t>
                      </a:r>
                    </a:p>
                  </a:txBody>
                  <a:tcPr anchor="ctr"/>
                </a:tc>
                <a:tc>
                  <a:txBody>
                    <a:bodyPr/>
                    <a:lstStyle/>
                    <a:p>
                      <a:pPr algn="ctr"/>
                      <a:r>
                        <a:rPr lang="en-US" dirty="0"/>
                        <a:t>Model 1 + Employment status</a:t>
                      </a:r>
                    </a:p>
                  </a:txBody>
                  <a:tcPr anchor="ctr"/>
                </a:tc>
                <a:tc>
                  <a:txBody>
                    <a:bodyPr/>
                    <a:lstStyle/>
                    <a:p>
                      <a:pPr algn="ctr"/>
                      <a:r>
                        <a:rPr lang="en-US" dirty="0">
                          <a:effectLst/>
                        </a:rPr>
                        <a:t>3</a:t>
                      </a:r>
                    </a:p>
                  </a:txBody>
                  <a:tcPr anchor="ctr"/>
                </a:tc>
                <a:tc>
                  <a:txBody>
                    <a:bodyPr/>
                    <a:lstStyle/>
                    <a:p>
                      <a:pPr algn="ctr"/>
                      <a:r>
                        <a:rPr lang="en-US" dirty="0">
                          <a:effectLst/>
                        </a:rPr>
                        <a:t>1,410,528</a:t>
                      </a:r>
                    </a:p>
                  </a:txBody>
                  <a:tcPr anchor="ctr"/>
                </a:tc>
                <a:tc>
                  <a:txBody>
                    <a:bodyPr/>
                    <a:lstStyle/>
                    <a:p>
                      <a:pPr algn="ctr"/>
                      <a:r>
                        <a:rPr lang="en-US" sz="1800" b="0" i="0" kern="1200" dirty="0">
                          <a:solidFill>
                            <a:schemeClr val="dk1"/>
                          </a:solidFill>
                          <a:effectLst/>
                          <a:latin typeface="+mn-lt"/>
                          <a:ea typeface="+mn-ea"/>
                          <a:cs typeface="+mn-cs"/>
                        </a:rPr>
                        <a:t>1,410,559</a:t>
                      </a:r>
                      <a:endParaRPr lang="en-US" dirty="0">
                        <a:effectLst/>
                      </a:endParaRPr>
                    </a:p>
                  </a:txBody>
                  <a:tcPr anchor="ctr"/>
                </a:tc>
                <a:tc>
                  <a:txBody>
                    <a:bodyPr/>
                    <a:lstStyle/>
                    <a:p>
                      <a:pPr algn="ctr"/>
                      <a:r>
                        <a:rPr lang="en-US" sz="1800" b="0" i="0" kern="1200" dirty="0">
                          <a:solidFill>
                            <a:schemeClr val="dk1"/>
                          </a:solidFill>
                          <a:effectLst/>
                          <a:latin typeface="+mn-lt"/>
                          <a:ea typeface="+mn-ea"/>
                          <a:cs typeface="+mn-cs"/>
                        </a:rPr>
                        <a:t>106,341</a:t>
                      </a:r>
                      <a:endParaRPr lang="en-US" dirty="0">
                        <a:effectLst/>
                      </a:endParaRPr>
                    </a:p>
                  </a:txBody>
                  <a:tcPr anchor="ctr"/>
                </a:tc>
                <a:tc>
                  <a:txBody>
                    <a:bodyPr/>
                    <a:lstStyle/>
                    <a:p>
                      <a:pPr algn="ctr"/>
                      <a:r>
                        <a:rPr lang="en-US" dirty="0">
                          <a:effectLst/>
                        </a:rPr>
                        <a:t>0</a:t>
                      </a:r>
                    </a:p>
                  </a:txBody>
                  <a:tcPr anchor="ctr"/>
                </a:tc>
                <a:extLst>
                  <a:ext uri="{0D108BD9-81ED-4DB2-BD59-A6C34878D82A}">
                    <a16:rowId xmlns:a16="http://schemas.microsoft.com/office/drawing/2014/main" val="380626418"/>
                  </a:ext>
                </a:extLst>
              </a:tr>
              <a:tr h="594689">
                <a:tc>
                  <a:txBody>
                    <a:bodyPr/>
                    <a:lstStyle/>
                    <a:p>
                      <a:pPr algn="ctr"/>
                      <a:r>
                        <a:rPr lang="en-US" dirty="0"/>
                        <a:t>3</a:t>
                      </a:r>
                    </a:p>
                  </a:txBody>
                  <a:tcPr anchor="ctr"/>
                </a:tc>
                <a:tc>
                  <a:txBody>
                    <a:bodyPr/>
                    <a:lstStyle/>
                    <a:p>
                      <a:pPr algn="ctr"/>
                      <a:r>
                        <a:rPr lang="en-US" dirty="0"/>
                        <a:t>Model 2 +  Age × Employment status interaction</a:t>
                      </a:r>
                    </a:p>
                  </a:txBody>
                  <a:tcPr anchor="ctr"/>
                </a:tc>
                <a:tc>
                  <a:txBody>
                    <a:bodyPr/>
                    <a:lstStyle/>
                    <a:p>
                      <a:pPr algn="ctr"/>
                      <a:r>
                        <a:rPr lang="en-US" dirty="0"/>
                        <a:t>4</a:t>
                      </a:r>
                    </a:p>
                  </a:txBody>
                  <a:tcPr anchor="ctr"/>
                </a:tc>
                <a:tc>
                  <a:txBody>
                    <a:bodyPr/>
                    <a:lstStyle/>
                    <a:p>
                      <a:pPr algn="ctr"/>
                      <a:r>
                        <a:rPr lang="en-US" sz="1800" b="0" i="0" kern="1200" dirty="0">
                          <a:solidFill>
                            <a:schemeClr val="dk1"/>
                          </a:solidFill>
                          <a:effectLst/>
                          <a:latin typeface="+mn-lt"/>
                          <a:ea typeface="+mn-ea"/>
                          <a:cs typeface="+mn-cs"/>
                        </a:rPr>
                        <a:t>1,410,477</a:t>
                      </a:r>
                      <a:endParaRPr lang="en-US" dirty="0"/>
                    </a:p>
                  </a:txBody>
                  <a:tcPr anchor="ctr"/>
                </a:tc>
                <a:tc>
                  <a:txBody>
                    <a:bodyPr/>
                    <a:lstStyle/>
                    <a:p>
                      <a:pPr algn="ctr"/>
                      <a:r>
                        <a:rPr lang="en-US" sz="1800" b="0" i="0" kern="1200" dirty="0">
                          <a:solidFill>
                            <a:schemeClr val="dk1"/>
                          </a:solidFill>
                          <a:effectLst/>
                          <a:latin typeface="+mn-lt"/>
                          <a:ea typeface="+mn-ea"/>
                          <a:cs typeface="+mn-cs"/>
                        </a:rPr>
                        <a:t>1,410,519</a:t>
                      </a:r>
                      <a:endParaRPr lang="en-US" dirty="0"/>
                    </a:p>
                  </a:txBody>
                  <a:tcPr anchor="ctr"/>
                </a:tc>
                <a:tc>
                  <a:txBody>
                    <a:bodyPr/>
                    <a:lstStyle/>
                    <a:p>
                      <a:pPr algn="ctr"/>
                      <a:r>
                        <a:rPr lang="en-US" sz="1800" b="0" i="0" kern="1200" dirty="0">
                          <a:solidFill>
                            <a:schemeClr val="dk1"/>
                          </a:solidFill>
                          <a:effectLst/>
                          <a:latin typeface="+mn-lt"/>
                          <a:ea typeface="+mn-ea"/>
                          <a:cs typeface="+mn-cs"/>
                        </a:rPr>
                        <a:t>106,290</a:t>
                      </a:r>
                      <a:endParaRPr lang="en-US" dirty="0"/>
                    </a:p>
                  </a:txBody>
                  <a:tcPr anchor="ctr"/>
                </a:tc>
                <a:tc>
                  <a:txBody>
                    <a:bodyPr/>
                    <a:lstStyle/>
                    <a:p>
                      <a:pPr algn="ctr"/>
                      <a:r>
                        <a:rPr lang="en-US" dirty="0"/>
                        <a:t>0</a:t>
                      </a:r>
                    </a:p>
                  </a:txBody>
                  <a:tcPr anchor="ctr"/>
                </a:tc>
                <a:extLst>
                  <a:ext uri="{0D108BD9-81ED-4DB2-BD59-A6C34878D82A}">
                    <a16:rowId xmlns:a16="http://schemas.microsoft.com/office/drawing/2014/main" val="2132482967"/>
                  </a:ext>
                </a:extLst>
              </a:tr>
              <a:tr h="594689">
                <a:tc>
                  <a:txBody>
                    <a:bodyPr/>
                    <a:lstStyle/>
                    <a:p>
                      <a:pPr algn="ctr"/>
                      <a:r>
                        <a:rPr lang="en-US" dirty="0"/>
                        <a:t>4</a:t>
                      </a:r>
                    </a:p>
                  </a:txBody>
                  <a:tcPr anchor="ctr"/>
                </a:tc>
                <a:tc>
                  <a:txBody>
                    <a:bodyPr/>
                    <a:lstStyle/>
                    <a:p>
                      <a:pPr algn="ctr"/>
                      <a:r>
                        <a:rPr lang="en-US" dirty="0"/>
                        <a:t>Model 3 + AFQT + Education + Annual hours worked (÷100)</a:t>
                      </a:r>
                    </a:p>
                  </a:txBody>
                  <a:tcPr anchor="ctr"/>
                </a:tc>
                <a:tc>
                  <a:txBody>
                    <a:bodyPr/>
                    <a:lstStyle/>
                    <a:p>
                      <a:pPr algn="ctr"/>
                      <a:r>
                        <a:rPr lang="en-US" dirty="0">
                          <a:effectLst/>
                        </a:rPr>
                        <a:t>7</a:t>
                      </a:r>
                    </a:p>
                  </a:txBody>
                  <a:tcPr anchor="ctr"/>
                </a:tc>
                <a:tc>
                  <a:txBody>
                    <a:bodyPr/>
                    <a:lstStyle/>
                    <a:p>
                      <a:pPr algn="ctr"/>
                      <a:r>
                        <a:rPr lang="en-US" dirty="0">
                          <a:effectLst/>
                        </a:rPr>
                        <a:t>1,305,324</a:t>
                      </a:r>
                    </a:p>
                  </a:txBody>
                  <a:tcPr anchor="ctr"/>
                </a:tc>
                <a:tc>
                  <a:txBody>
                    <a:bodyPr/>
                    <a:lstStyle/>
                    <a:p>
                      <a:pPr algn="ctr"/>
                      <a:r>
                        <a:rPr lang="en-US" sz="1800" b="0" i="0" kern="1200" dirty="0">
                          <a:solidFill>
                            <a:schemeClr val="dk1"/>
                          </a:solidFill>
                          <a:effectLst/>
                          <a:latin typeface="+mn-lt"/>
                          <a:ea typeface="+mn-ea"/>
                          <a:cs typeface="+mn-cs"/>
                        </a:rPr>
                        <a:t>1,305,397</a:t>
                      </a:r>
                      <a:endParaRPr lang="en-US" dirty="0">
                        <a:effectLst/>
                      </a:endParaRPr>
                    </a:p>
                  </a:txBody>
                  <a:tcPr anchor="ctr"/>
                </a:tc>
                <a:tc>
                  <a:txBody>
                    <a:bodyPr/>
                    <a:lstStyle/>
                    <a:p>
                      <a:pPr algn="ctr"/>
                      <a:r>
                        <a:rPr lang="en-US" sz="1800" b="0" i="0" kern="1200" dirty="0">
                          <a:solidFill>
                            <a:schemeClr val="dk1"/>
                          </a:solidFill>
                          <a:effectLst/>
                          <a:latin typeface="+mn-lt"/>
                          <a:ea typeface="+mn-ea"/>
                          <a:cs typeface="+mn-cs"/>
                        </a:rPr>
                        <a:t>1,137</a:t>
                      </a:r>
                      <a:endParaRPr lang="en-US" dirty="0">
                        <a:effectLst/>
                      </a:endParaRPr>
                    </a:p>
                  </a:txBody>
                  <a:tcPr anchor="ctr"/>
                </a:tc>
                <a:tc>
                  <a:txBody>
                    <a:bodyPr/>
                    <a:lstStyle/>
                    <a:p>
                      <a:pPr algn="ctr"/>
                      <a:r>
                        <a:rPr lang="en-US" dirty="0">
                          <a:effectLst/>
                        </a:rPr>
                        <a:t>0</a:t>
                      </a:r>
                    </a:p>
                  </a:txBody>
                  <a:tcPr anchor="ctr"/>
                </a:tc>
                <a:extLst>
                  <a:ext uri="{0D108BD9-81ED-4DB2-BD59-A6C34878D82A}">
                    <a16:rowId xmlns:a16="http://schemas.microsoft.com/office/drawing/2014/main" val="3936251906"/>
                  </a:ext>
                </a:extLst>
              </a:tr>
              <a:tr h="594689">
                <a:tc>
                  <a:txBody>
                    <a:bodyPr/>
                    <a:lstStyle/>
                    <a:p>
                      <a:pPr algn="ctr"/>
                      <a:r>
                        <a:rPr lang="en-US" dirty="0">
                          <a:solidFill>
                            <a:srgbClr val="00B050"/>
                          </a:solidFill>
                        </a:rPr>
                        <a:t>5</a:t>
                      </a:r>
                    </a:p>
                  </a:txBody>
                  <a:tcPr anchor="ctr"/>
                </a:tc>
                <a:tc>
                  <a:txBody>
                    <a:bodyPr/>
                    <a:lstStyle/>
                    <a:p>
                      <a:pPr algn="ctr"/>
                      <a:r>
                        <a:rPr lang="en-US" dirty="0">
                          <a:solidFill>
                            <a:srgbClr val="00B050"/>
                          </a:solidFill>
                        </a:rPr>
                        <a:t>Model 4 + Race + Gender + Cohort</a:t>
                      </a:r>
                    </a:p>
                  </a:txBody>
                  <a:tcPr anchor="ctr"/>
                </a:tc>
                <a:tc>
                  <a:txBody>
                    <a:bodyPr/>
                    <a:lstStyle/>
                    <a:p>
                      <a:pPr algn="ctr"/>
                      <a:r>
                        <a:rPr lang="en-US" dirty="0">
                          <a:solidFill>
                            <a:srgbClr val="00B050"/>
                          </a:solidFill>
                        </a:rPr>
                        <a:t>11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rgbClr val="00B050"/>
                          </a:solidFill>
                          <a:effectLst/>
                          <a:latin typeface="+mn-lt"/>
                          <a:ea typeface="+mn-ea"/>
                          <a:cs typeface="+mn-cs"/>
                        </a:rPr>
                        <a:t>1,304,187</a:t>
                      </a:r>
                      <a:endParaRPr lang="en-US" dirty="0">
                        <a:solidFill>
                          <a:srgbClr val="00B050"/>
                        </a:solidFill>
                      </a:endParaRPr>
                    </a:p>
                  </a:txBody>
                  <a:tcPr anchor="ctr"/>
                </a:tc>
                <a:tc>
                  <a:txBody>
                    <a:bodyPr/>
                    <a:lstStyle/>
                    <a:p>
                      <a:pPr algn="ctr"/>
                      <a:r>
                        <a:rPr lang="en-US" dirty="0">
                          <a:solidFill>
                            <a:srgbClr val="00B050"/>
                          </a:solidFill>
                          <a:effectLst/>
                        </a:rPr>
                        <a:t>1,304,302</a:t>
                      </a:r>
                    </a:p>
                  </a:txBody>
                  <a:tcPr anchor="ctr"/>
                </a:tc>
                <a:tc>
                  <a:txBody>
                    <a:bodyPr/>
                    <a:lstStyle/>
                    <a:p>
                      <a:pPr algn="ctr"/>
                      <a:r>
                        <a:rPr lang="en-US" dirty="0">
                          <a:solidFill>
                            <a:srgbClr val="00B050"/>
                          </a:solidFill>
                          <a:effectLst/>
                        </a:rPr>
                        <a:t>0</a:t>
                      </a:r>
                    </a:p>
                  </a:txBody>
                  <a:tcPr anchor="ctr"/>
                </a:tc>
                <a:tc>
                  <a:txBody>
                    <a:bodyPr/>
                    <a:lstStyle/>
                    <a:p>
                      <a:pPr algn="ctr"/>
                      <a:r>
                        <a:rPr lang="en-US" dirty="0">
                          <a:solidFill>
                            <a:srgbClr val="00B050"/>
                          </a:solidFill>
                          <a:effectLst/>
                        </a:rPr>
                        <a:t>1</a:t>
                      </a:r>
                    </a:p>
                  </a:txBody>
                  <a:tcPr anchor="ctr"/>
                </a:tc>
                <a:extLst>
                  <a:ext uri="{0D108BD9-81ED-4DB2-BD59-A6C34878D82A}">
                    <a16:rowId xmlns:a16="http://schemas.microsoft.com/office/drawing/2014/main" val="568537164"/>
                  </a:ext>
                </a:extLst>
              </a:tr>
            </a:tbl>
          </a:graphicData>
        </a:graphic>
      </p:graphicFrame>
      <p:sp>
        <p:nvSpPr>
          <p:cNvPr id="2" name="Slide Number Placeholder 1">
            <a:extLst>
              <a:ext uri="{FF2B5EF4-FFF2-40B4-BE49-F238E27FC236}">
                <a16:creationId xmlns:a16="http://schemas.microsoft.com/office/drawing/2014/main" id="{67EB3DD5-987B-7367-E7F0-A8123E50CD9F}"/>
              </a:ext>
            </a:extLst>
          </p:cNvPr>
          <p:cNvSpPr>
            <a:spLocks noGrp="1"/>
          </p:cNvSpPr>
          <p:nvPr>
            <p:ph type="sldNum" sz="quarter" idx="12"/>
          </p:nvPr>
        </p:nvSpPr>
        <p:spPr/>
        <p:txBody>
          <a:bodyPr/>
          <a:lstStyle/>
          <a:p>
            <a:fld id="{294A09A9-5501-47C1-A89A-A340965A2BE2}" type="slidenum">
              <a:rPr lang="en-US" smtClean="0"/>
              <a:pPr/>
              <a:t>8</a:t>
            </a:fld>
            <a:endParaRPr lang="en-US" dirty="0">
              <a:latin typeface="+mn-lt"/>
            </a:endParaRPr>
          </a:p>
        </p:txBody>
      </p:sp>
    </p:spTree>
    <p:extLst>
      <p:ext uri="{BB962C8B-B14F-4D97-AF65-F5344CB8AC3E}">
        <p14:creationId xmlns:p14="http://schemas.microsoft.com/office/powerpoint/2010/main" val="235140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346ED-721D-85EE-2F1B-A31D0912DE29}"/>
              </a:ext>
            </a:extLst>
          </p:cNvPr>
          <p:cNvSpPr>
            <a:spLocks noGrp="1"/>
          </p:cNvSpPr>
          <p:nvPr>
            <p:ph type="title"/>
          </p:nvPr>
        </p:nvSpPr>
        <p:spPr>
          <a:xfrm>
            <a:off x="594360" y="321267"/>
            <a:ext cx="9778365" cy="1494596"/>
          </a:xfrm>
        </p:spPr>
        <p:txBody>
          <a:bodyPr/>
          <a:lstStyle/>
          <a:p>
            <a:r>
              <a:rPr lang="en-US" dirty="0"/>
              <a:t> Final Model Evaluation</a:t>
            </a:r>
          </a:p>
        </p:txBody>
      </p:sp>
      <p:pic>
        <p:nvPicPr>
          <p:cNvPr id="7" name="Content Placeholder 6" descr="A graph of a graph&#10;&#10;AI-generated content may be incorrect.">
            <a:extLst>
              <a:ext uri="{FF2B5EF4-FFF2-40B4-BE49-F238E27FC236}">
                <a16:creationId xmlns:a16="http://schemas.microsoft.com/office/drawing/2014/main" id="{682F30C4-5212-A675-A8FA-F85A7ABF3519}"/>
              </a:ext>
            </a:extLst>
          </p:cNvPr>
          <p:cNvPicPr>
            <a:picLocks noGrp="1" noChangeAspect="1"/>
          </p:cNvPicPr>
          <p:nvPr>
            <p:ph sz="quarter" idx="15"/>
          </p:nvPr>
        </p:nvPicPr>
        <p:blipFill>
          <a:blip r:embed="rId3">
            <a:extLst>
              <a:ext uri="{28A0092B-C50C-407E-A947-70E740481C1C}">
                <a14:useLocalDpi xmlns:a14="http://schemas.microsoft.com/office/drawing/2010/main" val="0"/>
              </a:ext>
            </a:extLst>
          </a:blip>
          <a:stretch>
            <a:fillRect/>
          </a:stretch>
        </p:blipFill>
        <p:spPr>
          <a:xfrm>
            <a:off x="353075" y="2562430"/>
            <a:ext cx="5859070" cy="3506766"/>
          </a:xfrm>
        </p:spPr>
      </p:pic>
      <p:graphicFrame>
        <p:nvGraphicFramePr>
          <p:cNvPr id="8" name="Content Placeholder 7">
            <a:extLst>
              <a:ext uri="{FF2B5EF4-FFF2-40B4-BE49-F238E27FC236}">
                <a16:creationId xmlns:a16="http://schemas.microsoft.com/office/drawing/2014/main" id="{E1897AB3-DEEE-CB94-3A5F-724BC9AA0B09}"/>
              </a:ext>
            </a:extLst>
          </p:cNvPr>
          <p:cNvGraphicFramePr>
            <a:graphicFrameLocks noGrp="1"/>
          </p:cNvGraphicFramePr>
          <p:nvPr>
            <p:ph sz="quarter" idx="16"/>
            <p:extLst>
              <p:ext uri="{D42A27DB-BD31-4B8C-83A1-F6EECF244321}">
                <p14:modId xmlns:p14="http://schemas.microsoft.com/office/powerpoint/2010/main" val="402594889"/>
              </p:ext>
            </p:extLst>
          </p:nvPr>
        </p:nvGraphicFramePr>
        <p:xfrm>
          <a:off x="6474299" y="1728316"/>
          <a:ext cx="5015197" cy="3873866"/>
        </p:xfrm>
        <a:graphic>
          <a:graphicData uri="http://schemas.openxmlformats.org/drawingml/2006/table">
            <a:tbl>
              <a:tblPr firstRow="1" bandRow="1">
                <a:tableStyleId>{B301B821-A1FF-4177-AEE7-76D212191A09}</a:tableStyleId>
              </a:tblPr>
              <a:tblGrid>
                <a:gridCol w="2066800">
                  <a:extLst>
                    <a:ext uri="{9D8B030D-6E8A-4147-A177-3AD203B41FA5}">
                      <a16:colId xmlns:a16="http://schemas.microsoft.com/office/drawing/2014/main" val="1061383370"/>
                    </a:ext>
                  </a:extLst>
                </a:gridCol>
                <a:gridCol w="1105319">
                  <a:extLst>
                    <a:ext uri="{9D8B030D-6E8A-4147-A177-3AD203B41FA5}">
                      <a16:colId xmlns:a16="http://schemas.microsoft.com/office/drawing/2014/main" val="1589589560"/>
                    </a:ext>
                  </a:extLst>
                </a:gridCol>
                <a:gridCol w="797125">
                  <a:extLst>
                    <a:ext uri="{9D8B030D-6E8A-4147-A177-3AD203B41FA5}">
                      <a16:colId xmlns:a16="http://schemas.microsoft.com/office/drawing/2014/main" val="422028422"/>
                    </a:ext>
                  </a:extLst>
                </a:gridCol>
                <a:gridCol w="1045953">
                  <a:extLst>
                    <a:ext uri="{9D8B030D-6E8A-4147-A177-3AD203B41FA5}">
                      <a16:colId xmlns:a16="http://schemas.microsoft.com/office/drawing/2014/main" val="3143523270"/>
                    </a:ext>
                  </a:extLst>
                </a:gridCol>
              </a:tblGrid>
              <a:tr h="310606">
                <a:tc>
                  <a:txBody>
                    <a:bodyPr/>
                    <a:lstStyle/>
                    <a:p>
                      <a:r>
                        <a:rPr lang="en-US" sz="1200" dirty="0"/>
                        <a:t>Predictor</a:t>
                      </a:r>
                    </a:p>
                  </a:txBody>
                  <a:tcPr/>
                </a:tc>
                <a:tc>
                  <a:txBody>
                    <a:bodyPr/>
                    <a:lstStyle/>
                    <a:p>
                      <a:pPr algn="r"/>
                      <a:r>
                        <a:rPr lang="en-US" sz="1200" dirty="0"/>
                        <a:t>Estimate</a:t>
                      </a:r>
                    </a:p>
                  </a:txBody>
                  <a:tcPr/>
                </a:tc>
                <a:tc>
                  <a:txBody>
                    <a:bodyPr/>
                    <a:lstStyle/>
                    <a:p>
                      <a:pPr algn="r"/>
                      <a:r>
                        <a:rPr lang="en-US" sz="1200" dirty="0"/>
                        <a:t>SE</a:t>
                      </a:r>
                    </a:p>
                  </a:txBody>
                  <a:tcPr/>
                </a:tc>
                <a:tc>
                  <a:txBody>
                    <a:bodyPr/>
                    <a:lstStyle/>
                    <a:p>
                      <a:pPr algn="r"/>
                      <a:r>
                        <a:rPr lang="en-US" sz="1200" dirty="0"/>
                        <a:t>t value</a:t>
                      </a:r>
                    </a:p>
                  </a:txBody>
                  <a:tcPr/>
                </a:tc>
                <a:extLst>
                  <a:ext uri="{0D108BD9-81ED-4DB2-BD59-A6C34878D82A}">
                    <a16:rowId xmlns:a16="http://schemas.microsoft.com/office/drawing/2014/main" val="2314660124"/>
                  </a:ext>
                </a:extLst>
              </a:tr>
              <a:tr h="310606">
                <a:tc>
                  <a:txBody>
                    <a:bodyPr/>
                    <a:lstStyle/>
                    <a:p>
                      <a:r>
                        <a:rPr lang="en-US" sz="1200" dirty="0"/>
                        <a:t>Intercept</a:t>
                      </a:r>
                    </a:p>
                  </a:txBody>
                  <a:tcPr/>
                </a:tc>
                <a:tc>
                  <a:txBody>
                    <a:bodyPr/>
                    <a:lstStyle/>
                    <a:p>
                      <a:pPr algn="r"/>
                      <a:r>
                        <a:rPr lang="en-US" sz="1200" dirty="0">
                          <a:effectLst/>
                        </a:rPr>
                        <a:t>3.242</a:t>
                      </a:r>
                    </a:p>
                  </a:txBody>
                  <a:tcPr/>
                </a:tc>
                <a:tc>
                  <a:txBody>
                    <a:bodyPr/>
                    <a:lstStyle/>
                    <a:p>
                      <a:pPr algn="r"/>
                      <a:r>
                        <a:rPr lang="en-US" sz="1200" dirty="0">
                          <a:effectLst/>
                        </a:rPr>
                        <a:t>0.045</a:t>
                      </a:r>
                    </a:p>
                  </a:txBody>
                  <a:tcPr/>
                </a:tc>
                <a:tc>
                  <a:txBody>
                    <a:bodyPr/>
                    <a:lstStyle/>
                    <a:p>
                      <a:pPr algn="r"/>
                      <a:r>
                        <a:rPr lang="en-US" sz="1200" b="0" i="0" kern="1200" dirty="0">
                          <a:solidFill>
                            <a:schemeClr val="dk1"/>
                          </a:solidFill>
                          <a:effectLst/>
                          <a:latin typeface="+mn-lt"/>
                          <a:ea typeface="+mn-ea"/>
                          <a:cs typeface="+mn-cs"/>
                        </a:rPr>
                        <a:t>72.296</a:t>
                      </a:r>
                      <a:endParaRPr lang="en-US" sz="1200" dirty="0">
                        <a:effectLst/>
                      </a:endParaRPr>
                    </a:p>
                  </a:txBody>
                  <a:tcPr/>
                </a:tc>
                <a:extLst>
                  <a:ext uri="{0D108BD9-81ED-4DB2-BD59-A6C34878D82A}">
                    <a16:rowId xmlns:a16="http://schemas.microsoft.com/office/drawing/2014/main" val="747651439"/>
                  </a:ext>
                </a:extLst>
              </a:tr>
              <a:tr h="310606">
                <a:tc>
                  <a:txBody>
                    <a:bodyPr/>
                    <a:lstStyle/>
                    <a:p>
                      <a:r>
                        <a:rPr lang="en-US" sz="1200" dirty="0"/>
                        <a:t>Age</a:t>
                      </a:r>
                    </a:p>
                  </a:txBody>
                  <a:tcPr/>
                </a:tc>
                <a:tc>
                  <a:txBody>
                    <a:bodyPr/>
                    <a:lstStyle/>
                    <a:p>
                      <a:pPr algn="r"/>
                      <a:r>
                        <a:rPr lang="en-US" sz="1200" dirty="0">
                          <a:effectLst/>
                        </a:rPr>
                        <a:t>-0.018</a:t>
                      </a:r>
                    </a:p>
                  </a:txBody>
                  <a:tcPr/>
                </a:tc>
                <a:tc>
                  <a:txBody>
                    <a:bodyPr/>
                    <a:lstStyle/>
                    <a:p>
                      <a:pPr algn="r"/>
                      <a:r>
                        <a:rPr lang="en-US" sz="1200" dirty="0">
                          <a:effectLst/>
                        </a:rPr>
                        <a:t>0.002</a:t>
                      </a:r>
                    </a:p>
                  </a:txBody>
                  <a:tcPr/>
                </a:tc>
                <a:tc>
                  <a:txBody>
                    <a:bodyPr/>
                    <a:lstStyle/>
                    <a:p>
                      <a:pPr algn="r"/>
                      <a:r>
                        <a:rPr lang="en-US" sz="1200" b="0" i="0" kern="1200" dirty="0">
                          <a:solidFill>
                            <a:schemeClr val="dk1"/>
                          </a:solidFill>
                          <a:effectLst/>
                          <a:latin typeface="+mn-lt"/>
                          <a:ea typeface="+mn-ea"/>
                          <a:cs typeface="+mn-cs"/>
                        </a:rPr>
                        <a:t>-10.035</a:t>
                      </a:r>
                      <a:endParaRPr lang="en-US" sz="1200" dirty="0">
                        <a:effectLst/>
                      </a:endParaRPr>
                    </a:p>
                  </a:txBody>
                  <a:tcPr/>
                </a:tc>
                <a:extLst>
                  <a:ext uri="{0D108BD9-81ED-4DB2-BD59-A6C34878D82A}">
                    <a16:rowId xmlns:a16="http://schemas.microsoft.com/office/drawing/2014/main" val="2467971841"/>
                  </a:ext>
                </a:extLst>
              </a:tr>
              <a:tr h="310606">
                <a:tc>
                  <a:txBody>
                    <a:bodyPr/>
                    <a:lstStyle/>
                    <a:p>
                      <a:r>
                        <a:rPr lang="en-US" sz="1200" dirty="0">
                          <a:solidFill>
                            <a:srgbClr val="00B050"/>
                          </a:solidFill>
                        </a:rPr>
                        <a:t>Employment: Self</a:t>
                      </a:r>
                    </a:p>
                  </a:txBody>
                  <a:tcPr/>
                </a:tc>
                <a:tc>
                  <a:txBody>
                    <a:bodyPr/>
                    <a:lstStyle/>
                    <a:p>
                      <a:pPr algn="r"/>
                      <a:r>
                        <a:rPr lang="en-US" sz="1200" dirty="0">
                          <a:solidFill>
                            <a:srgbClr val="00B050"/>
                          </a:solidFill>
                          <a:effectLst/>
                        </a:rPr>
                        <a:t>0.451</a:t>
                      </a:r>
                    </a:p>
                  </a:txBody>
                  <a:tcPr/>
                </a:tc>
                <a:tc>
                  <a:txBody>
                    <a:bodyPr/>
                    <a:lstStyle/>
                    <a:p>
                      <a:pPr algn="r"/>
                      <a:r>
                        <a:rPr lang="en-US" sz="1200" b="0" i="0" kern="1200" dirty="0">
                          <a:solidFill>
                            <a:srgbClr val="00B050"/>
                          </a:solidFill>
                          <a:effectLst/>
                          <a:latin typeface="+mn-lt"/>
                          <a:ea typeface="+mn-ea"/>
                          <a:cs typeface="+mn-cs"/>
                        </a:rPr>
                        <a:t>0.053</a:t>
                      </a:r>
                      <a:endParaRPr lang="en-US" sz="1200" dirty="0">
                        <a:solidFill>
                          <a:srgbClr val="00B050"/>
                        </a:solidFill>
                        <a:effectLst/>
                      </a:endParaRPr>
                    </a:p>
                  </a:txBody>
                  <a:tcPr/>
                </a:tc>
                <a:tc>
                  <a:txBody>
                    <a:bodyPr/>
                    <a:lstStyle/>
                    <a:p>
                      <a:pPr algn="r"/>
                      <a:r>
                        <a:rPr lang="en-US" sz="1200" b="0" i="0" kern="1200" dirty="0">
                          <a:solidFill>
                            <a:srgbClr val="00B050"/>
                          </a:solidFill>
                          <a:effectLst/>
                          <a:latin typeface="+mn-lt"/>
                          <a:ea typeface="+mn-ea"/>
                          <a:cs typeface="+mn-cs"/>
                        </a:rPr>
                        <a:t>8.551</a:t>
                      </a:r>
                      <a:endParaRPr lang="en-US" sz="1200" dirty="0">
                        <a:solidFill>
                          <a:srgbClr val="00B050"/>
                        </a:solidFill>
                      </a:endParaRPr>
                    </a:p>
                  </a:txBody>
                  <a:tcPr/>
                </a:tc>
                <a:extLst>
                  <a:ext uri="{0D108BD9-81ED-4DB2-BD59-A6C34878D82A}">
                    <a16:rowId xmlns:a16="http://schemas.microsoft.com/office/drawing/2014/main" val="2656229861"/>
                  </a:ext>
                </a:extLst>
              </a:tr>
              <a:tr h="310606">
                <a:tc>
                  <a:txBody>
                    <a:bodyPr/>
                    <a:lstStyle/>
                    <a:p>
                      <a:r>
                        <a:rPr lang="en-US" sz="1200" dirty="0"/>
                        <a:t>AFQT</a:t>
                      </a:r>
                    </a:p>
                  </a:txBody>
                  <a:tcPr/>
                </a:tc>
                <a:tc>
                  <a:txBody>
                    <a:bodyPr/>
                    <a:lstStyle/>
                    <a:p>
                      <a:pPr algn="r"/>
                      <a:r>
                        <a:rPr lang="en-US" sz="1200" b="0" i="0" kern="1200" dirty="0">
                          <a:solidFill>
                            <a:schemeClr val="dk1"/>
                          </a:solidFill>
                          <a:effectLst/>
                          <a:latin typeface="+mn-lt"/>
                          <a:ea typeface="+mn-ea"/>
                          <a:cs typeface="+mn-cs"/>
                        </a:rPr>
                        <a:t>0.230</a:t>
                      </a:r>
                      <a:endParaRPr lang="en-US" sz="1200" dirty="0"/>
                    </a:p>
                  </a:txBody>
                  <a:tcPr/>
                </a:tc>
                <a:tc>
                  <a:txBody>
                    <a:bodyPr/>
                    <a:lstStyle/>
                    <a:p>
                      <a:pPr algn="r"/>
                      <a:r>
                        <a:rPr lang="en-US" sz="1200" dirty="0">
                          <a:effectLst/>
                        </a:rPr>
                        <a:t>0.020</a:t>
                      </a:r>
                    </a:p>
                  </a:txBody>
                  <a:tcPr/>
                </a:tc>
                <a:tc>
                  <a:txBody>
                    <a:bodyPr/>
                    <a:lstStyle/>
                    <a:p>
                      <a:pPr algn="r"/>
                      <a:r>
                        <a:rPr lang="en-US" sz="1200" b="0" i="0" kern="1200" dirty="0">
                          <a:solidFill>
                            <a:schemeClr val="dk1"/>
                          </a:solidFill>
                          <a:effectLst/>
                          <a:latin typeface="+mn-lt"/>
                          <a:ea typeface="+mn-ea"/>
                          <a:cs typeface="+mn-cs"/>
                        </a:rPr>
                        <a:t>11.768</a:t>
                      </a:r>
                      <a:endParaRPr lang="en-US" sz="1200" dirty="0">
                        <a:effectLst/>
                      </a:endParaRPr>
                    </a:p>
                  </a:txBody>
                  <a:tcPr/>
                </a:tc>
                <a:extLst>
                  <a:ext uri="{0D108BD9-81ED-4DB2-BD59-A6C34878D82A}">
                    <a16:rowId xmlns:a16="http://schemas.microsoft.com/office/drawing/2014/main" val="1876971705"/>
                  </a:ext>
                </a:extLst>
              </a:tr>
              <a:tr h="310606">
                <a:tc>
                  <a:txBody>
                    <a:bodyPr/>
                    <a:lstStyle/>
                    <a:p>
                      <a:r>
                        <a:rPr lang="en-US" sz="1200" dirty="0"/>
                        <a:t>Education Level</a:t>
                      </a:r>
                    </a:p>
                  </a:txBody>
                  <a:tcPr/>
                </a:tc>
                <a:tc>
                  <a:txBody>
                    <a:bodyPr/>
                    <a:lstStyle/>
                    <a:p>
                      <a:pPr algn="r"/>
                      <a:r>
                        <a:rPr lang="en-US" sz="1200" dirty="0">
                          <a:effectLst/>
                        </a:rPr>
                        <a:t>0.498</a:t>
                      </a:r>
                    </a:p>
                  </a:txBody>
                  <a:tcPr/>
                </a:tc>
                <a:tc>
                  <a:txBody>
                    <a:bodyPr/>
                    <a:lstStyle/>
                    <a:p>
                      <a:pPr algn="r"/>
                      <a:r>
                        <a:rPr lang="en-US" sz="1200" dirty="0">
                          <a:effectLst/>
                        </a:rPr>
                        <a:t>0.017</a:t>
                      </a:r>
                    </a:p>
                  </a:txBody>
                  <a:tcPr/>
                </a:tc>
                <a:tc>
                  <a:txBody>
                    <a:bodyPr/>
                    <a:lstStyle/>
                    <a:p>
                      <a:pPr algn="r"/>
                      <a:r>
                        <a:rPr lang="en-US" sz="1200" b="0" i="0" kern="1200" dirty="0">
                          <a:solidFill>
                            <a:schemeClr val="dk1"/>
                          </a:solidFill>
                          <a:effectLst/>
                          <a:latin typeface="+mn-lt"/>
                          <a:ea typeface="+mn-ea"/>
                          <a:cs typeface="+mn-cs"/>
                        </a:rPr>
                        <a:t>28.537</a:t>
                      </a:r>
                      <a:endParaRPr lang="en-US" sz="1200" dirty="0">
                        <a:effectLst/>
                      </a:endParaRPr>
                    </a:p>
                  </a:txBody>
                  <a:tcPr/>
                </a:tc>
                <a:extLst>
                  <a:ext uri="{0D108BD9-81ED-4DB2-BD59-A6C34878D82A}">
                    <a16:rowId xmlns:a16="http://schemas.microsoft.com/office/drawing/2014/main" val="1796445516"/>
                  </a:ext>
                </a:extLst>
              </a:tr>
              <a:tr h="310606">
                <a:tc>
                  <a:txBody>
                    <a:bodyPr/>
                    <a:lstStyle/>
                    <a:p>
                      <a:r>
                        <a:rPr lang="en-US" sz="1200" dirty="0"/>
                        <a:t>Annual Hours worked </a:t>
                      </a:r>
                      <a:r>
                        <a:rPr lang="en-US" sz="1200" b="0" i="0" kern="1200" dirty="0">
                          <a:solidFill>
                            <a:schemeClr val="dk1"/>
                          </a:solidFill>
                          <a:effectLst/>
                          <a:latin typeface="+mn-lt"/>
                          <a:ea typeface="+mn-ea"/>
                          <a:cs typeface="+mn-cs"/>
                        </a:rPr>
                        <a:t>÷ 100</a:t>
                      </a:r>
                      <a:endParaRPr lang="en-US" sz="1200" dirty="0"/>
                    </a:p>
                  </a:txBody>
                  <a:tcPr/>
                </a:tc>
                <a:tc>
                  <a:txBody>
                    <a:bodyPr/>
                    <a:lstStyle/>
                    <a:p>
                      <a:pPr algn="r"/>
                      <a:r>
                        <a:rPr lang="en-US" sz="1200" dirty="0">
                          <a:effectLst/>
                        </a:rPr>
                        <a:t>0.254</a:t>
                      </a:r>
                    </a:p>
                  </a:txBody>
                  <a:tcPr/>
                </a:tc>
                <a:tc>
                  <a:txBody>
                    <a:bodyPr/>
                    <a:lstStyle/>
                    <a:p>
                      <a:pPr algn="r"/>
                      <a:r>
                        <a:rPr lang="en-US" sz="1200" dirty="0">
                          <a:effectLst/>
                        </a:rPr>
                        <a:t>0.002</a:t>
                      </a:r>
                    </a:p>
                  </a:txBody>
                  <a:tcPr/>
                </a:tc>
                <a:tc>
                  <a:txBody>
                    <a:bodyPr/>
                    <a:lstStyle/>
                    <a:p>
                      <a:pPr algn="r"/>
                      <a:r>
                        <a:rPr lang="en-US" sz="1200" b="0" i="0" kern="1200" dirty="0">
                          <a:solidFill>
                            <a:schemeClr val="dk1"/>
                          </a:solidFill>
                          <a:effectLst/>
                          <a:latin typeface="+mn-lt"/>
                          <a:ea typeface="+mn-ea"/>
                          <a:cs typeface="+mn-cs"/>
                        </a:rPr>
                        <a:t>157.333</a:t>
                      </a:r>
                      <a:endParaRPr lang="en-US" sz="1200" dirty="0">
                        <a:effectLst/>
                      </a:endParaRPr>
                    </a:p>
                  </a:txBody>
                  <a:tcPr/>
                </a:tc>
                <a:extLst>
                  <a:ext uri="{0D108BD9-81ED-4DB2-BD59-A6C34878D82A}">
                    <a16:rowId xmlns:a16="http://schemas.microsoft.com/office/drawing/2014/main" val="1500472959"/>
                  </a:ext>
                </a:extLst>
              </a:tr>
              <a:tr h="310606">
                <a:tc>
                  <a:txBody>
                    <a:bodyPr/>
                    <a:lstStyle/>
                    <a:p>
                      <a:r>
                        <a:rPr lang="en-US" sz="1200" dirty="0"/>
                        <a:t>Race: Black</a:t>
                      </a:r>
                    </a:p>
                  </a:txBody>
                  <a:tcPr/>
                </a:tc>
                <a:tc>
                  <a:txBody>
                    <a:bodyPr/>
                    <a:lstStyle/>
                    <a:p>
                      <a:pPr algn="r"/>
                      <a:r>
                        <a:rPr lang="en-US" sz="1200" dirty="0">
                          <a:effectLst/>
                        </a:rPr>
                        <a:t>0.034</a:t>
                      </a:r>
                    </a:p>
                  </a:txBody>
                  <a:tcPr/>
                </a:tc>
                <a:tc>
                  <a:txBody>
                    <a:bodyPr/>
                    <a:lstStyle/>
                    <a:p>
                      <a:pPr algn="r"/>
                      <a:r>
                        <a:rPr lang="en-US" sz="1200" dirty="0">
                          <a:effectLst/>
                        </a:rPr>
                        <a:t>0.041</a:t>
                      </a:r>
                    </a:p>
                  </a:txBody>
                  <a:tcPr/>
                </a:tc>
                <a:tc>
                  <a:txBody>
                    <a:bodyPr/>
                    <a:lstStyle/>
                    <a:p>
                      <a:pPr algn="r"/>
                      <a:r>
                        <a:rPr lang="en-US" sz="1200" b="0" i="0" kern="1200" dirty="0">
                          <a:solidFill>
                            <a:schemeClr val="dk1"/>
                          </a:solidFill>
                          <a:effectLst/>
                          <a:latin typeface="+mn-lt"/>
                          <a:ea typeface="+mn-ea"/>
                          <a:cs typeface="+mn-cs"/>
                        </a:rPr>
                        <a:t>0.825</a:t>
                      </a:r>
                      <a:endParaRPr lang="en-US" sz="1200" dirty="0">
                        <a:effectLst/>
                      </a:endParaRPr>
                    </a:p>
                  </a:txBody>
                  <a:tcPr/>
                </a:tc>
                <a:extLst>
                  <a:ext uri="{0D108BD9-81ED-4DB2-BD59-A6C34878D82A}">
                    <a16:rowId xmlns:a16="http://schemas.microsoft.com/office/drawing/2014/main" val="2877487029"/>
                  </a:ext>
                </a:extLst>
              </a:tr>
              <a:tr h="310606">
                <a:tc>
                  <a:txBody>
                    <a:bodyPr/>
                    <a:lstStyle/>
                    <a:p>
                      <a:r>
                        <a:rPr lang="en-US" sz="1200" dirty="0"/>
                        <a:t>Race: White</a:t>
                      </a:r>
                    </a:p>
                  </a:txBody>
                  <a:tcPr/>
                </a:tc>
                <a:tc>
                  <a:txBody>
                    <a:bodyPr/>
                    <a:lstStyle/>
                    <a:p>
                      <a:pPr algn="r"/>
                      <a:r>
                        <a:rPr lang="en-US" sz="1200" dirty="0">
                          <a:effectLst/>
                        </a:rPr>
                        <a:t>0.093</a:t>
                      </a:r>
                    </a:p>
                  </a:txBody>
                  <a:tcPr/>
                </a:tc>
                <a:tc>
                  <a:txBody>
                    <a:bodyPr/>
                    <a:lstStyle/>
                    <a:p>
                      <a:pPr algn="r"/>
                      <a:r>
                        <a:rPr lang="en-US" sz="1200" dirty="0">
                          <a:effectLst/>
                        </a:rPr>
                        <a:t>0.039</a:t>
                      </a:r>
                    </a:p>
                  </a:txBody>
                  <a:tcPr/>
                </a:tc>
                <a:tc>
                  <a:txBody>
                    <a:bodyPr/>
                    <a:lstStyle/>
                    <a:p>
                      <a:pPr algn="r"/>
                      <a:r>
                        <a:rPr lang="en-US" sz="1200" b="0" i="0" kern="1200" dirty="0">
                          <a:solidFill>
                            <a:schemeClr val="dk1"/>
                          </a:solidFill>
                          <a:effectLst/>
                          <a:latin typeface="+mn-lt"/>
                          <a:ea typeface="+mn-ea"/>
                          <a:cs typeface="+mn-cs"/>
                        </a:rPr>
                        <a:t>2.398</a:t>
                      </a:r>
                      <a:endParaRPr lang="en-US" sz="1200" dirty="0">
                        <a:effectLst/>
                      </a:endParaRPr>
                    </a:p>
                  </a:txBody>
                  <a:tcPr/>
                </a:tc>
                <a:extLst>
                  <a:ext uri="{0D108BD9-81ED-4DB2-BD59-A6C34878D82A}">
                    <a16:rowId xmlns:a16="http://schemas.microsoft.com/office/drawing/2014/main" val="3165809374"/>
                  </a:ext>
                </a:extLst>
              </a:tr>
              <a:tr h="310606">
                <a:tc>
                  <a:txBody>
                    <a:bodyPr/>
                    <a:lstStyle/>
                    <a:p>
                      <a:r>
                        <a:rPr lang="en-US" sz="1200" dirty="0"/>
                        <a:t>Gender: Female</a:t>
                      </a:r>
                    </a:p>
                  </a:txBody>
                  <a:tcPr/>
                </a:tc>
                <a:tc>
                  <a:txBody>
                    <a:bodyPr/>
                    <a:lstStyle/>
                    <a:p>
                      <a:pPr lvl="1" algn="r"/>
                      <a:r>
                        <a:rPr lang="en-US" sz="1200" b="0" i="0" kern="1200" dirty="0">
                          <a:solidFill>
                            <a:schemeClr val="dk1"/>
                          </a:solidFill>
                          <a:effectLst/>
                          <a:latin typeface="+mn-lt"/>
                          <a:ea typeface="+mn-ea"/>
                          <a:cs typeface="+mn-cs"/>
                        </a:rPr>
                        <a:t>-0.083</a:t>
                      </a:r>
                      <a:endParaRPr lang="en-US" sz="1200" dirty="0"/>
                    </a:p>
                  </a:txBody>
                  <a:tcPr/>
                </a:tc>
                <a:tc>
                  <a:txBody>
                    <a:bodyPr/>
                    <a:lstStyle/>
                    <a:p>
                      <a:pPr algn="r"/>
                      <a:r>
                        <a:rPr lang="en-US" sz="1200" dirty="0">
                          <a:effectLst/>
                        </a:rPr>
                        <a:t>0.029</a:t>
                      </a:r>
                    </a:p>
                  </a:txBody>
                  <a:tcPr/>
                </a:tc>
                <a:tc>
                  <a:txBody>
                    <a:bodyPr/>
                    <a:lstStyle/>
                    <a:p>
                      <a:pPr algn="r"/>
                      <a:r>
                        <a:rPr lang="en-US" sz="1200" b="0" i="0" kern="1200" dirty="0">
                          <a:solidFill>
                            <a:schemeClr val="dk1"/>
                          </a:solidFill>
                          <a:effectLst/>
                          <a:latin typeface="+mn-lt"/>
                          <a:ea typeface="+mn-ea"/>
                          <a:cs typeface="+mn-cs"/>
                        </a:rPr>
                        <a:t>-2.892</a:t>
                      </a:r>
                      <a:endParaRPr lang="en-US" sz="1200" dirty="0">
                        <a:effectLst/>
                      </a:endParaRPr>
                    </a:p>
                  </a:txBody>
                  <a:tcPr/>
                </a:tc>
                <a:extLst>
                  <a:ext uri="{0D108BD9-81ED-4DB2-BD59-A6C34878D82A}">
                    <a16:rowId xmlns:a16="http://schemas.microsoft.com/office/drawing/2014/main" val="1253077171"/>
                  </a:ext>
                </a:extLst>
              </a:tr>
              <a:tr h="310606">
                <a:tc>
                  <a:txBody>
                    <a:bodyPr/>
                    <a:lstStyle/>
                    <a:p>
                      <a:r>
                        <a:rPr lang="en-US" sz="1200" b="0" i="0" kern="1200" dirty="0">
                          <a:solidFill>
                            <a:schemeClr val="dk1"/>
                          </a:solidFill>
                          <a:effectLst/>
                          <a:latin typeface="+mn-lt"/>
                          <a:ea typeface="+mn-ea"/>
                          <a:cs typeface="+mn-cs"/>
                        </a:rPr>
                        <a:t>Cohort: NLSY97</a:t>
                      </a:r>
                      <a:endParaRPr lang="en-US" sz="1200" dirty="0"/>
                    </a:p>
                  </a:txBody>
                  <a:tcPr/>
                </a:tc>
                <a:tc>
                  <a:txBody>
                    <a:bodyPr/>
                    <a:lstStyle/>
                    <a:p>
                      <a:pPr algn="r"/>
                      <a:r>
                        <a:rPr lang="en-US" sz="1200" b="0" i="0" kern="1200" dirty="0">
                          <a:solidFill>
                            <a:schemeClr val="dk1"/>
                          </a:solidFill>
                          <a:effectLst/>
                          <a:latin typeface="+mn-lt"/>
                          <a:ea typeface="+mn-ea"/>
                          <a:cs typeface="+mn-cs"/>
                        </a:rPr>
                        <a:t>-1.023</a:t>
                      </a:r>
                      <a:endParaRPr lang="en-US" sz="1200" dirty="0"/>
                    </a:p>
                  </a:txBody>
                  <a:tcPr/>
                </a:tc>
                <a:tc>
                  <a:txBody>
                    <a:bodyPr/>
                    <a:lstStyle/>
                    <a:p>
                      <a:pPr algn="r"/>
                      <a:r>
                        <a:rPr lang="en-US" sz="1200" dirty="0">
                          <a:effectLst/>
                        </a:rPr>
                        <a:t>0.030</a:t>
                      </a:r>
                    </a:p>
                  </a:txBody>
                  <a:tcPr/>
                </a:tc>
                <a:tc>
                  <a:txBody>
                    <a:bodyPr/>
                    <a:lstStyle/>
                    <a:p>
                      <a:pPr algn="r"/>
                      <a:r>
                        <a:rPr lang="en-US" sz="1200" b="0" i="0" kern="1200" dirty="0">
                          <a:solidFill>
                            <a:schemeClr val="dk1"/>
                          </a:solidFill>
                          <a:effectLst/>
                          <a:latin typeface="+mn-lt"/>
                          <a:ea typeface="+mn-ea"/>
                          <a:cs typeface="+mn-cs"/>
                        </a:rPr>
                        <a:t>-33.948</a:t>
                      </a:r>
                      <a:endParaRPr lang="en-US" sz="1200" dirty="0">
                        <a:effectLst/>
                      </a:endParaRPr>
                    </a:p>
                  </a:txBody>
                  <a:tcPr/>
                </a:tc>
                <a:extLst>
                  <a:ext uri="{0D108BD9-81ED-4DB2-BD59-A6C34878D82A}">
                    <a16:rowId xmlns:a16="http://schemas.microsoft.com/office/drawing/2014/main" val="3021377161"/>
                  </a:ext>
                </a:extLst>
              </a:tr>
              <a:tr h="428109">
                <a:tc>
                  <a:txBody>
                    <a:bodyPr/>
                    <a:lstStyle/>
                    <a:p>
                      <a:r>
                        <a:rPr lang="en-US" sz="1200" b="0" i="0" kern="1200" dirty="0">
                          <a:solidFill>
                            <a:srgbClr val="00B050"/>
                          </a:solidFill>
                          <a:effectLst/>
                          <a:latin typeface="+mn-lt"/>
                          <a:ea typeface="+mn-ea"/>
                          <a:cs typeface="+mn-cs"/>
                        </a:rPr>
                        <a:t>Interaction: Age × Self-employment</a:t>
                      </a:r>
                      <a:endParaRPr lang="en-US" sz="1200" dirty="0">
                        <a:solidFill>
                          <a:srgbClr val="00B050"/>
                        </a:solidFill>
                      </a:endParaRPr>
                    </a:p>
                  </a:txBody>
                  <a:tcPr/>
                </a:tc>
                <a:tc>
                  <a:txBody>
                    <a:bodyPr/>
                    <a:lstStyle/>
                    <a:p>
                      <a:pPr algn="r"/>
                      <a:r>
                        <a:rPr lang="en-US" sz="1200" dirty="0">
                          <a:solidFill>
                            <a:srgbClr val="00B050"/>
                          </a:solidFill>
                          <a:effectLst/>
                        </a:rPr>
                        <a:t>0.040</a:t>
                      </a:r>
                    </a:p>
                  </a:txBody>
                  <a:tcPr/>
                </a:tc>
                <a:tc>
                  <a:txBody>
                    <a:bodyPr/>
                    <a:lstStyle/>
                    <a:p>
                      <a:pPr algn="r"/>
                      <a:r>
                        <a:rPr lang="en-US" sz="1200" dirty="0">
                          <a:solidFill>
                            <a:srgbClr val="00B050"/>
                          </a:solidFill>
                          <a:effectLst/>
                        </a:rPr>
                        <a:t>0.004</a:t>
                      </a:r>
                    </a:p>
                  </a:txBody>
                  <a:tcPr/>
                </a:tc>
                <a:tc>
                  <a:txBody>
                    <a:bodyPr/>
                    <a:lstStyle/>
                    <a:p>
                      <a:pPr algn="r"/>
                      <a:r>
                        <a:rPr lang="en-US" sz="1200" b="0" i="0" kern="1200" dirty="0">
                          <a:solidFill>
                            <a:srgbClr val="00B050"/>
                          </a:solidFill>
                          <a:effectLst/>
                          <a:latin typeface="+mn-lt"/>
                          <a:ea typeface="+mn-ea"/>
                          <a:cs typeface="+mn-cs"/>
                        </a:rPr>
                        <a:t>10.162</a:t>
                      </a:r>
                      <a:endParaRPr lang="en-US" sz="1200" dirty="0">
                        <a:solidFill>
                          <a:srgbClr val="00B050"/>
                        </a:solidFill>
                        <a:effectLst/>
                      </a:endParaRPr>
                    </a:p>
                  </a:txBody>
                  <a:tcPr/>
                </a:tc>
                <a:extLst>
                  <a:ext uri="{0D108BD9-81ED-4DB2-BD59-A6C34878D82A}">
                    <a16:rowId xmlns:a16="http://schemas.microsoft.com/office/drawing/2014/main" val="2898274409"/>
                  </a:ext>
                </a:extLst>
              </a:tr>
            </a:tbl>
          </a:graphicData>
        </a:graphic>
      </p:graphicFrame>
      <p:sp>
        <p:nvSpPr>
          <p:cNvPr id="5" name="Slide Number Placeholder 4">
            <a:extLst>
              <a:ext uri="{FF2B5EF4-FFF2-40B4-BE49-F238E27FC236}">
                <a16:creationId xmlns:a16="http://schemas.microsoft.com/office/drawing/2014/main" id="{3AB87011-D60D-3665-F66F-E22225BD90EE}"/>
              </a:ext>
            </a:extLst>
          </p:cNvPr>
          <p:cNvSpPr>
            <a:spLocks noGrp="1"/>
          </p:cNvSpPr>
          <p:nvPr>
            <p:ph type="sldNum" sz="quarter" idx="12"/>
          </p:nvPr>
        </p:nvSpPr>
        <p:spPr/>
        <p:txBody>
          <a:bodyPr/>
          <a:lstStyle/>
          <a:p>
            <a:fld id="{294A09A9-5501-47C1-A89A-A340965A2BE2}" type="slidenum">
              <a:rPr lang="en-US" smtClean="0"/>
              <a:pPr/>
              <a:t>9</a:t>
            </a:fld>
            <a:endParaRPr lang="en-US" dirty="0">
              <a:latin typeface="+mn-lt"/>
            </a:endParaRPr>
          </a:p>
        </p:txBody>
      </p:sp>
      <p:cxnSp>
        <p:nvCxnSpPr>
          <p:cNvPr id="10" name="Straight Arrow Connector 9">
            <a:extLst>
              <a:ext uri="{FF2B5EF4-FFF2-40B4-BE49-F238E27FC236}">
                <a16:creationId xmlns:a16="http://schemas.microsoft.com/office/drawing/2014/main" id="{F5BE6BB9-F3CD-7845-C06E-E450FD1C3AE4}"/>
              </a:ext>
            </a:extLst>
          </p:cNvPr>
          <p:cNvCxnSpPr>
            <a:cxnSpLocks/>
          </p:cNvCxnSpPr>
          <p:nvPr/>
        </p:nvCxnSpPr>
        <p:spPr>
          <a:xfrm>
            <a:off x="8450664" y="1494596"/>
            <a:ext cx="552659" cy="1248604"/>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1" name="TextBox 10">
            <a:extLst>
              <a:ext uri="{FF2B5EF4-FFF2-40B4-BE49-F238E27FC236}">
                <a16:creationId xmlns:a16="http://schemas.microsoft.com/office/drawing/2014/main" id="{2DCD9451-9ACD-0829-EFA1-2F21E1B85E1E}"/>
              </a:ext>
            </a:extLst>
          </p:cNvPr>
          <p:cNvSpPr txBox="1"/>
          <p:nvPr/>
        </p:nvSpPr>
        <p:spPr>
          <a:xfrm>
            <a:off x="6884786" y="1057458"/>
            <a:ext cx="3263457" cy="338554"/>
          </a:xfrm>
          <a:prstGeom prst="rect">
            <a:avLst/>
          </a:prstGeom>
          <a:noFill/>
        </p:spPr>
        <p:txBody>
          <a:bodyPr wrap="none" rtlCol="0">
            <a:spAutoFit/>
          </a:bodyPr>
          <a:lstStyle/>
          <a:p>
            <a:r>
              <a:rPr lang="en-US" sz="1600" b="1" dirty="0">
                <a:solidFill>
                  <a:srgbClr val="00B050"/>
                </a:solidFill>
                <a:effectLst/>
                <a:latin typeface="Aptos" panose="020B0004020202020204" pitchFamily="34" charset="0"/>
                <a:ea typeface="Aptos" panose="020B0004020202020204" pitchFamily="34" charset="0"/>
                <a:cs typeface="Times New Roman" panose="02020603050405020304" pitchFamily="18" charset="0"/>
              </a:rPr>
              <a:t>~57</a:t>
            </a:r>
            <a:r>
              <a:rPr lang="en-US" sz="1600" b="1" dirty="0">
                <a:solidFill>
                  <a:srgbClr val="00B050"/>
                </a:solidFill>
                <a:effectLst/>
                <a:latin typeface="Arial" panose="020B0604020202020204" pitchFamily="34" charset="0"/>
                <a:ea typeface="Aptos" panose="020B0004020202020204" pitchFamily="34" charset="0"/>
              </a:rPr>
              <a:t> </a:t>
            </a:r>
            <a:r>
              <a:rPr lang="en-US" sz="1600" b="1" dirty="0">
                <a:solidFill>
                  <a:srgbClr val="00B050"/>
                </a:solidFill>
                <a:effectLst/>
                <a:latin typeface="Aptos" panose="020B0004020202020204" pitchFamily="34" charset="0"/>
                <a:ea typeface="Aptos" panose="020B0004020202020204" pitchFamily="34" charset="0"/>
                <a:cs typeface="Times New Roman" panose="02020603050405020304" pitchFamily="18" charset="0"/>
              </a:rPr>
              <a:t>% higher income at mean age</a:t>
            </a:r>
            <a:endParaRPr lang="en-US" sz="1600" b="1" dirty="0">
              <a:solidFill>
                <a:srgbClr val="00B050"/>
              </a:solidFill>
            </a:endParaRPr>
          </a:p>
        </p:txBody>
      </p:sp>
      <p:cxnSp>
        <p:nvCxnSpPr>
          <p:cNvPr id="14" name="Straight Arrow Connector 13">
            <a:extLst>
              <a:ext uri="{FF2B5EF4-FFF2-40B4-BE49-F238E27FC236}">
                <a16:creationId xmlns:a16="http://schemas.microsoft.com/office/drawing/2014/main" id="{3D894A99-E829-8C1F-E00E-D66CCDC264BD}"/>
              </a:ext>
            </a:extLst>
          </p:cNvPr>
          <p:cNvCxnSpPr/>
          <p:nvPr/>
        </p:nvCxnSpPr>
        <p:spPr>
          <a:xfrm flipV="1">
            <a:off x="8774723" y="5431706"/>
            <a:ext cx="457200" cy="405661"/>
          </a:xfrm>
          <a:prstGeom prst="straightConnector1">
            <a:avLst/>
          </a:prstGeom>
          <a:ln w="1905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TextBox 14">
            <a:extLst>
              <a:ext uri="{FF2B5EF4-FFF2-40B4-BE49-F238E27FC236}">
                <a16:creationId xmlns:a16="http://schemas.microsoft.com/office/drawing/2014/main" id="{A4569477-53B6-798F-3E8C-3CFF05A84C89}"/>
              </a:ext>
            </a:extLst>
          </p:cNvPr>
          <p:cNvSpPr txBox="1"/>
          <p:nvPr/>
        </p:nvSpPr>
        <p:spPr>
          <a:xfrm>
            <a:off x="5293677" y="5899919"/>
            <a:ext cx="6313973" cy="338554"/>
          </a:xfrm>
          <a:prstGeom prst="rect">
            <a:avLst/>
          </a:prstGeom>
          <a:noFill/>
        </p:spPr>
        <p:txBody>
          <a:bodyPr wrap="none" rtlCol="0">
            <a:spAutoFit/>
          </a:bodyPr>
          <a:lstStyle/>
          <a:p>
            <a:r>
              <a:rPr lang="en-US" sz="1600" b="1" dirty="0">
                <a:solidFill>
                  <a:srgbClr val="00B050"/>
                </a:solidFill>
              </a:rPr>
              <a:t>A positive interaction confirming widening premium with increasing age</a:t>
            </a:r>
          </a:p>
        </p:txBody>
      </p:sp>
      <p:sp>
        <p:nvSpPr>
          <p:cNvPr id="16" name="TextBox 15">
            <a:extLst>
              <a:ext uri="{FF2B5EF4-FFF2-40B4-BE49-F238E27FC236}">
                <a16:creationId xmlns:a16="http://schemas.microsoft.com/office/drawing/2014/main" id="{21E5C55B-1E32-331C-BA69-EBF87FEA6A4D}"/>
              </a:ext>
            </a:extLst>
          </p:cNvPr>
          <p:cNvSpPr txBox="1"/>
          <p:nvPr/>
        </p:nvSpPr>
        <p:spPr>
          <a:xfrm>
            <a:off x="168520" y="6003876"/>
            <a:ext cx="5125157" cy="307777"/>
          </a:xfrm>
          <a:prstGeom prst="rect">
            <a:avLst/>
          </a:prstGeom>
          <a:noFill/>
        </p:spPr>
        <p:txBody>
          <a:bodyPr wrap="square" rtlCol="0">
            <a:spAutoFit/>
          </a:bodyPr>
          <a:lstStyle/>
          <a:p>
            <a:pPr algn="ctr"/>
            <a:r>
              <a:rPr lang="en-US" sz="1400" b="1" dirty="0">
                <a:solidFill>
                  <a:schemeClr val="accent3"/>
                </a:solidFill>
              </a:rPr>
              <a:t>Blue Dashed lines = Predicted    </a:t>
            </a:r>
            <a:r>
              <a:rPr lang="en-US" sz="1400" b="1" dirty="0">
                <a:solidFill>
                  <a:schemeClr val="bg2">
                    <a:lumMod val="50000"/>
                  </a:schemeClr>
                </a:solidFill>
              </a:rPr>
              <a:t>Grey solid lines = Actual</a:t>
            </a:r>
          </a:p>
        </p:txBody>
      </p:sp>
      <p:sp>
        <p:nvSpPr>
          <p:cNvPr id="17" name="TextBox 16">
            <a:extLst>
              <a:ext uri="{FF2B5EF4-FFF2-40B4-BE49-F238E27FC236}">
                <a16:creationId xmlns:a16="http://schemas.microsoft.com/office/drawing/2014/main" id="{B2EB4E86-6DB6-AC3D-0FFB-B13004E3E4FE}"/>
              </a:ext>
            </a:extLst>
          </p:cNvPr>
          <p:cNvSpPr txBox="1"/>
          <p:nvPr/>
        </p:nvSpPr>
        <p:spPr>
          <a:xfrm>
            <a:off x="452764" y="2239264"/>
            <a:ext cx="5943936" cy="646331"/>
          </a:xfrm>
          <a:prstGeom prst="rect">
            <a:avLst/>
          </a:prstGeom>
          <a:noFill/>
        </p:spPr>
        <p:txBody>
          <a:bodyPr wrap="none" rtlCol="0">
            <a:spAutoFit/>
          </a:bodyPr>
          <a:lstStyle/>
          <a:p>
            <a:r>
              <a:rPr lang="en-US" sz="1800" b="1" dirty="0">
                <a:solidFill>
                  <a:schemeClr val="accent3"/>
                </a:solidFill>
              </a:rPr>
              <a:t>Actual vs Model-Predicted Log-Income Trajectories over age</a:t>
            </a:r>
          </a:p>
          <a:p>
            <a:endParaRPr lang="en-US" dirty="0"/>
          </a:p>
        </p:txBody>
      </p:sp>
    </p:spTree>
    <p:extLst>
      <p:ext uri="{BB962C8B-B14F-4D97-AF65-F5344CB8AC3E}">
        <p14:creationId xmlns:p14="http://schemas.microsoft.com/office/powerpoint/2010/main" val="888484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6"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9DC4-8B30-98A0-5BAB-C78BA4A4AD55}"/>
              </a:ext>
            </a:extLst>
          </p:cNvPr>
          <p:cNvSpPr>
            <a:spLocks noGrp="1"/>
          </p:cNvSpPr>
          <p:nvPr>
            <p:ph type="title"/>
          </p:nvPr>
        </p:nvSpPr>
        <p:spPr>
          <a:xfrm>
            <a:off x="594360" y="198408"/>
            <a:ext cx="10972800" cy="1574317"/>
          </a:xfrm>
        </p:spPr>
        <p:txBody>
          <a:bodyPr/>
          <a:lstStyle/>
          <a:p>
            <a:r>
              <a:rPr lang="en-US" dirty="0"/>
              <a:t> Conclusion &amp; Limitations</a:t>
            </a:r>
          </a:p>
        </p:txBody>
      </p:sp>
      <p:graphicFrame>
        <p:nvGraphicFramePr>
          <p:cNvPr id="6" name="Content Placeholder 5">
            <a:extLst>
              <a:ext uri="{FF2B5EF4-FFF2-40B4-BE49-F238E27FC236}">
                <a16:creationId xmlns:a16="http://schemas.microsoft.com/office/drawing/2014/main" id="{8C9FDAD0-0A03-7D42-F589-DDEEB121FF3C}"/>
              </a:ext>
            </a:extLst>
          </p:cNvPr>
          <p:cNvGraphicFramePr>
            <a:graphicFrameLocks noGrp="1"/>
          </p:cNvGraphicFramePr>
          <p:nvPr>
            <p:ph sz="quarter" idx="13"/>
            <p:extLst>
              <p:ext uri="{D42A27DB-BD31-4B8C-83A1-F6EECF244321}">
                <p14:modId xmlns:p14="http://schemas.microsoft.com/office/powerpoint/2010/main" val="3595177060"/>
              </p:ext>
            </p:extLst>
          </p:nvPr>
        </p:nvGraphicFramePr>
        <p:xfrm>
          <a:off x="595523" y="2815077"/>
          <a:ext cx="5746750" cy="3597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4">
            <a:extLst>
              <a:ext uri="{FF2B5EF4-FFF2-40B4-BE49-F238E27FC236}">
                <a16:creationId xmlns:a16="http://schemas.microsoft.com/office/drawing/2014/main" id="{6B8D0114-40EF-6520-8E10-C9C4191001F2}"/>
              </a:ext>
            </a:extLst>
          </p:cNvPr>
          <p:cNvSpPr>
            <a:spLocks noGrp="1"/>
          </p:cNvSpPr>
          <p:nvPr>
            <p:ph type="sldNum" sz="quarter" idx="12"/>
          </p:nvPr>
        </p:nvSpPr>
        <p:spPr/>
        <p:txBody>
          <a:bodyPr/>
          <a:lstStyle/>
          <a:p>
            <a:fld id="{294A09A9-5501-47C1-A89A-A340965A2BE2}" type="slidenum">
              <a:rPr lang="en-US" smtClean="0"/>
              <a:pPr/>
              <a:t>10</a:t>
            </a:fld>
            <a:endParaRPr lang="en-US" dirty="0">
              <a:latin typeface="+mn-lt"/>
            </a:endParaRPr>
          </a:p>
        </p:txBody>
      </p:sp>
      <p:graphicFrame>
        <p:nvGraphicFramePr>
          <p:cNvPr id="7" name="Content Placeholder 5">
            <a:extLst>
              <a:ext uri="{FF2B5EF4-FFF2-40B4-BE49-F238E27FC236}">
                <a16:creationId xmlns:a16="http://schemas.microsoft.com/office/drawing/2014/main" id="{ECE31345-8E78-94E6-01EA-0189EC728DAB}"/>
              </a:ext>
            </a:extLst>
          </p:cNvPr>
          <p:cNvGraphicFramePr>
            <a:graphicFrameLocks/>
          </p:cNvGraphicFramePr>
          <p:nvPr>
            <p:extLst>
              <p:ext uri="{D42A27DB-BD31-4B8C-83A1-F6EECF244321}">
                <p14:modId xmlns:p14="http://schemas.microsoft.com/office/powerpoint/2010/main" val="2329106534"/>
              </p:ext>
            </p:extLst>
          </p:nvPr>
        </p:nvGraphicFramePr>
        <p:xfrm>
          <a:off x="6342273" y="2815077"/>
          <a:ext cx="5746750" cy="359747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85076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Graphic spid="7"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a:lstStyle/>
          <a:p>
            <a:r>
              <a:rPr lang="en-US" dirty="0"/>
              <a:t>Thank you</a:t>
            </a:r>
          </a:p>
        </p:txBody>
      </p:sp>
      <p:sp>
        <p:nvSpPr>
          <p:cNvPr id="4" name="Text Placeholder 2">
            <a:extLst>
              <a:ext uri="{FF2B5EF4-FFF2-40B4-BE49-F238E27FC236}">
                <a16:creationId xmlns:a16="http://schemas.microsoft.com/office/drawing/2014/main" id="{ACF4458E-D4F3-3649-21C7-9CA69D32FF07}"/>
              </a:ext>
            </a:extLst>
          </p:cNvPr>
          <p:cNvSpPr>
            <a:spLocks noGrp="1"/>
          </p:cNvSpPr>
          <p:nvPr>
            <p:ph type="body" sz="quarter" idx="11"/>
          </p:nvPr>
        </p:nvSpPr>
        <p:spPr>
          <a:xfrm>
            <a:off x="594360" y="4278246"/>
            <a:ext cx="5486400" cy="1645920"/>
          </a:xfrm>
        </p:spPr>
        <p:txBody>
          <a:bodyPr/>
          <a:lstStyle/>
          <a:p>
            <a:r>
              <a:rPr lang="en-US" dirty="0"/>
              <a:t>Zaid Ghazi </a:t>
            </a:r>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Custom">
  <a:themeElements>
    <a:clrScheme name="Custom 5">
      <a:dk1>
        <a:srgbClr val="000000"/>
      </a:dk1>
      <a:lt1>
        <a:srgbClr val="FFFFFF"/>
      </a:lt1>
      <a:dk2>
        <a:srgbClr val="E4E4E4"/>
      </a:dk2>
      <a:lt2>
        <a:srgbClr val="00BFC4"/>
      </a:lt2>
      <a:accent1>
        <a:srgbClr val="A9D4DB"/>
      </a:accent1>
      <a:accent2>
        <a:srgbClr val="FBE284"/>
      </a:accent2>
      <a:accent3>
        <a:srgbClr val="00BFC4"/>
      </a:accent3>
      <a:accent4>
        <a:srgbClr val="AA5881"/>
      </a:accent4>
      <a:accent5>
        <a:srgbClr val="E06742"/>
      </a:accent5>
      <a:accent6>
        <a:srgbClr val="F8766D"/>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591c6b5-6013-4385-b47e-9f899e22da1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651FC619A2366488EFEDD3D3C13F0F1" ma:contentTypeVersion="11" ma:contentTypeDescription="Create a new document." ma:contentTypeScope="" ma:versionID="770494c97fc1399ed9f5a73f2bdb3ccb">
  <xsd:schema xmlns:xsd="http://www.w3.org/2001/XMLSchema" xmlns:xs="http://www.w3.org/2001/XMLSchema" xmlns:p="http://schemas.microsoft.com/office/2006/metadata/properties" xmlns:ns3="4591c6b5-6013-4385-b47e-9f899e22da1f" targetNamespace="http://schemas.microsoft.com/office/2006/metadata/properties" ma:root="true" ma:fieldsID="bf00053a523a8a0745240c095694540f" ns3:_="">
    <xsd:import namespace="4591c6b5-6013-4385-b47e-9f899e22da1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_activity"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91c6b5-6013-4385-b47e-9f899e22da1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4F4B194E-8B30-4377-8C59-ECFB902D2A26}">
  <ds:schemaRefs>
    <ds:schemaRef ds:uri="http://purl.org/dc/elements/1.1/"/>
    <ds:schemaRef ds:uri="4591c6b5-6013-4385-b47e-9f899e22da1f"/>
    <ds:schemaRef ds:uri="http://schemas.microsoft.com/office/2006/documentManagement/types"/>
    <ds:schemaRef ds:uri="http://schemas.openxmlformats.org/package/2006/metadata/core-properties"/>
    <ds:schemaRef ds:uri="http://purl.org/dc/dcmitype/"/>
    <ds:schemaRef ds:uri="http://schemas.microsoft.com/office/2006/metadata/properties"/>
    <ds:schemaRef ds:uri="http://schemas.microsoft.com/office/infopath/2007/PartnerControls"/>
    <ds:schemaRef ds:uri="http://www.w3.org/XML/1998/namespace"/>
    <ds:schemaRef ds:uri="http://purl.org/dc/terms/"/>
  </ds:schemaRefs>
</ds:datastoreItem>
</file>

<file path=customXml/itemProps3.xml><?xml version="1.0" encoding="utf-8"?>
<ds:datastoreItem xmlns:ds="http://schemas.openxmlformats.org/officeDocument/2006/customXml" ds:itemID="{22D6110E-0B60-4A23-A61B-02FEE0A1AF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91c6b5-6013-4385-b47e-9f899e22da1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5595</TotalTime>
  <Words>1257</Words>
  <Application>Microsoft Office PowerPoint</Application>
  <PresentationFormat>Widescreen</PresentationFormat>
  <Paragraphs>240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Cambria Math</vt:lpstr>
      <vt:lpstr>Franklin Gothic Book</vt:lpstr>
      <vt:lpstr>Franklin Gothic Demi</vt:lpstr>
      <vt:lpstr>Custom</vt:lpstr>
      <vt:lpstr>Income Trajectories:  Wage Earners vs. Self Employed</vt:lpstr>
      <vt:lpstr> Data &amp; Variables</vt:lpstr>
      <vt:lpstr>Objective &amp; Key Question</vt:lpstr>
      <vt:lpstr> Preprocessing &amp; Feature Engineering</vt:lpstr>
      <vt:lpstr>Exploratory Findings (I)</vt:lpstr>
      <vt:lpstr>Exploratory Findings (II)</vt:lpstr>
      <vt:lpstr> Modeling Framework</vt:lpstr>
      <vt:lpstr> Modeling Comparison</vt:lpstr>
      <vt:lpstr> Final Model Evaluation</vt:lpstr>
      <vt:lpstr> Conclusion &amp; 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Ghazi, Zaid</dc:creator>
  <cp:lastModifiedBy>Ghazi, Zaid</cp:lastModifiedBy>
  <cp:revision>1</cp:revision>
  <dcterms:created xsi:type="dcterms:W3CDTF">2025-05-03T17:02:23Z</dcterms:created>
  <dcterms:modified xsi:type="dcterms:W3CDTF">2025-05-11T15:06:43Z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0x0101007651FC619A2366488EFEDD3D3C13F0F1</vt:lpwstr>
  </property>
</Properties>
</file>